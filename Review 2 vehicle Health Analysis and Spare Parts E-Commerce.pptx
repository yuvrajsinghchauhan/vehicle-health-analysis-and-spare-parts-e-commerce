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15"/>
  </p:notesMasterIdLst>
  <p:sldIdLst>
    <p:sldId id="256" r:id="rId2"/>
    <p:sldId id="313" r:id="rId3"/>
    <p:sldId id="259" r:id="rId4"/>
    <p:sldId id="273" r:id="rId5"/>
    <p:sldId id="267" r:id="rId6"/>
    <p:sldId id="289" r:id="rId7"/>
    <p:sldId id="304" r:id="rId8"/>
    <p:sldId id="275" r:id="rId9"/>
    <p:sldId id="312" r:id="rId10"/>
    <p:sldId id="311" r:id="rId11"/>
    <p:sldId id="310" r:id="rId12"/>
    <p:sldId id="314" r:id="rId13"/>
    <p:sldId id="258" r:id="rId1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9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913" autoAdjust="0"/>
  </p:normalViewPr>
  <p:slideViewPr>
    <p:cSldViewPr snapToGrid="0">
      <p:cViewPr varScale="1">
        <p:scale>
          <a:sx n="86" d="100"/>
          <a:sy n="86" d="100"/>
        </p:scale>
        <p:origin x="1354" y="67"/>
      </p:cViewPr>
      <p:guideLst>
        <p:guide orient="horz" pos="219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Text Placeholder 2"/>
          <p:cNvSpPr>
            <a:spLocks noGrp="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3"/>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lvl="0" indent="0" algn="r" rtl="0">
              <a:spcBef>
                <a:spcPts val="0"/>
              </a:spcBef>
              <a:spcAft>
                <a:spcPts val="0"/>
              </a:spcAft>
              <a:buNone/>
            </a:pPr>
            <a:fld id="{00000000-1234-1234-1234-123412341234}"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853758" y="2503984"/>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IN" dirty="0"/>
              <a:t>Vehicle Health Analysis and Spare Parts E-Commerce</a:t>
            </a:r>
          </a:p>
        </p:txBody>
      </p:sp>
      <p:sp>
        <p:nvSpPr>
          <p:cNvPr id="89" name="Google Shape;89;p1"/>
          <p:cNvSpPr txBox="1">
            <a:spLocks noGrp="1"/>
          </p:cNvSpPr>
          <p:nvPr>
            <p:ph type="subTitle" idx="1"/>
          </p:nvPr>
        </p:nvSpPr>
        <p:spPr>
          <a:xfrm>
            <a:off x="4386263" y="4823183"/>
            <a:ext cx="4605337" cy="2139721"/>
          </a:xfrm>
          <a:prstGeom prst="rect">
            <a:avLst/>
          </a:prstGeom>
          <a:noFill/>
          <a:ln>
            <a:noFill/>
          </a:ln>
        </p:spPr>
        <p:txBody>
          <a:bodyPr spcFirstLastPara="1" wrap="square" lIns="91425" tIns="45700" rIns="91425" bIns="45700" anchor="t" anchorCtr="0">
            <a:normAutofit fontScale="47500" lnSpcReduction="20000"/>
          </a:bodyPr>
          <a:lstStyle/>
          <a:p>
            <a:pPr marL="0" indent="0">
              <a:spcBef>
                <a:spcPts val="0"/>
              </a:spcBef>
              <a:buSzPct val="100000"/>
            </a:pPr>
            <a:endParaRPr lang="en-US" dirty="0">
              <a:solidFill>
                <a:schemeClr val="tx1"/>
              </a:solidFill>
            </a:endParaRPr>
          </a:p>
          <a:p>
            <a:pPr marL="0" lvl="0" indent="0" algn="ctr" rtl="0">
              <a:spcBef>
                <a:spcPts val="0"/>
              </a:spcBef>
              <a:spcAft>
                <a:spcPts val="0"/>
              </a:spcAft>
              <a:buClr>
                <a:srgbClr val="888888"/>
              </a:buClr>
              <a:buSzPct val="100000"/>
              <a:buNone/>
            </a:pPr>
            <a:endParaRPr lang="en-US" dirty="0">
              <a:solidFill>
                <a:schemeClr val="tx1"/>
              </a:solidFill>
            </a:endParaRPr>
          </a:p>
          <a:p>
            <a:pPr marL="0" lvl="0" indent="0" algn="ctr" rtl="0">
              <a:spcBef>
                <a:spcPts val="0"/>
              </a:spcBef>
              <a:spcAft>
                <a:spcPts val="0"/>
              </a:spcAft>
              <a:buClr>
                <a:srgbClr val="888888"/>
              </a:buClr>
              <a:buSzPct val="100000"/>
              <a:buNone/>
            </a:pPr>
            <a:r>
              <a:rPr lang="en-US" dirty="0">
                <a:solidFill>
                  <a:schemeClr val="tx1"/>
                </a:solidFill>
              </a:rPr>
              <a:t>Student 1 Reg. No:</a:t>
            </a:r>
            <a:r>
              <a:rPr lang="en-IN" altLang="en-US" dirty="0">
                <a:solidFill>
                  <a:schemeClr val="tx1"/>
                </a:solidFill>
              </a:rPr>
              <a:t>RA1911027010058</a:t>
            </a:r>
            <a:endParaRPr dirty="0">
              <a:solidFill>
                <a:schemeClr val="tx1"/>
              </a:solidFill>
            </a:endParaRPr>
          </a:p>
          <a:p>
            <a:pPr marL="0" indent="0">
              <a:spcBef>
                <a:spcPts val="590"/>
              </a:spcBef>
              <a:buSzPct val="100000"/>
            </a:pPr>
            <a:r>
              <a:rPr lang="en-US" dirty="0">
                <a:solidFill>
                  <a:schemeClr val="tx1"/>
                </a:solidFill>
              </a:rPr>
              <a:t>Student 1 Name:</a:t>
            </a:r>
            <a:r>
              <a:rPr lang="en-IN" altLang="en-US" dirty="0">
                <a:solidFill>
                  <a:schemeClr val="tx1"/>
                </a:solidFill>
              </a:rPr>
              <a:t> YUVRAJ SINGH CHAUHAN</a:t>
            </a:r>
            <a:endParaRPr lang="en-US" dirty="0">
              <a:solidFill>
                <a:schemeClr val="tx1"/>
              </a:solidFill>
            </a:endParaRPr>
          </a:p>
          <a:p>
            <a:pPr marL="0" lvl="0" indent="0" algn="ctr" rtl="0">
              <a:spcBef>
                <a:spcPts val="590"/>
              </a:spcBef>
              <a:spcAft>
                <a:spcPts val="0"/>
              </a:spcAft>
              <a:buClr>
                <a:srgbClr val="888888"/>
              </a:buClr>
              <a:buSzPct val="100000"/>
              <a:buNone/>
            </a:pPr>
            <a:endParaRPr lang="en-US" dirty="0">
              <a:solidFill>
                <a:schemeClr val="tx1"/>
              </a:solidFill>
            </a:endParaRPr>
          </a:p>
          <a:p>
            <a:pPr marL="0" lvl="0" indent="0" algn="ctr" rtl="0">
              <a:spcBef>
                <a:spcPts val="590"/>
              </a:spcBef>
              <a:spcAft>
                <a:spcPts val="0"/>
              </a:spcAft>
              <a:buClr>
                <a:srgbClr val="888888"/>
              </a:buClr>
              <a:buSzPct val="100000"/>
              <a:buNone/>
            </a:pPr>
            <a:r>
              <a:rPr lang="en-US" dirty="0">
                <a:solidFill>
                  <a:schemeClr val="tx1"/>
                </a:solidFill>
              </a:rPr>
              <a:t>Student 2 Reg. No:</a:t>
            </a:r>
            <a:r>
              <a:rPr lang="en-IN" altLang="en-US" dirty="0">
                <a:solidFill>
                  <a:schemeClr val="tx1"/>
                </a:solidFill>
              </a:rPr>
              <a:t> RA1911027010007</a:t>
            </a:r>
            <a:endParaRPr lang="en-US" dirty="0">
              <a:solidFill>
                <a:schemeClr val="tx1"/>
              </a:solidFill>
            </a:endParaRPr>
          </a:p>
          <a:p>
            <a:pPr marL="0" lvl="0" indent="0">
              <a:spcBef>
                <a:spcPts val="590"/>
              </a:spcBef>
              <a:buSzPct val="100000"/>
            </a:pPr>
            <a:r>
              <a:rPr lang="en-US" dirty="0">
                <a:solidFill>
                  <a:schemeClr val="tx1"/>
                </a:solidFill>
              </a:rPr>
              <a:t>Student 2 Name:</a:t>
            </a:r>
            <a:r>
              <a:rPr lang="en-IN" altLang="en-US" dirty="0">
                <a:solidFill>
                  <a:schemeClr val="tx1"/>
                </a:solidFill>
              </a:rPr>
              <a:t> AVINASH REDDY VASIPALLI</a:t>
            </a:r>
          </a:p>
        </p:txBody>
      </p:sp>
      <p:pic>
        <p:nvPicPr>
          <p:cNvPr id="90" name="Google Shape;90;p1"/>
          <p:cNvPicPr preferRelativeResize="0"/>
          <p:nvPr/>
        </p:nvPicPr>
        <p:blipFill rotWithShape="1">
          <a:blip r:embed="rId3"/>
          <a:srcRect/>
          <a:stretch>
            <a:fillRect/>
          </a:stretch>
        </p:blipFill>
        <p:spPr>
          <a:xfrm>
            <a:off x="228600" y="553353"/>
            <a:ext cx="2237740" cy="755015"/>
          </a:xfrm>
          <a:prstGeom prst="rect">
            <a:avLst/>
          </a:prstGeom>
          <a:noFill/>
          <a:ln>
            <a:noFill/>
          </a:ln>
        </p:spPr>
      </p:pic>
      <p:sp>
        <p:nvSpPr>
          <p:cNvPr id="91" name="Google Shape;91;p1"/>
          <p:cNvSpPr/>
          <p:nvPr/>
        </p:nvSpPr>
        <p:spPr>
          <a:xfrm>
            <a:off x="2819400" y="457200"/>
            <a:ext cx="6172200" cy="1197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SRM INSTITUTE OF SCIENCE AND TECHNOLOGY </a:t>
            </a:r>
            <a:endParaRPr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SCHOOL OF COMPUTING</a:t>
            </a:r>
            <a:endParaRPr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DEPARTMENT OF </a:t>
            </a:r>
            <a:r>
              <a:rPr lang="en-IN" altLang="en-US" sz="1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DATA SCIENCE AND BUSINESS SYSTEMS</a:t>
            </a:r>
            <a:endParaRPr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18CSP107L </a:t>
            </a:r>
            <a:r>
              <a:rPr lang="en-IN" altLang="en-US" sz="1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en-US" sz="1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MINOR PROJECT </a:t>
            </a:r>
            <a:endParaRPr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89;p1"/>
          <p:cNvSpPr txBox="1"/>
          <p:nvPr/>
        </p:nvSpPr>
        <p:spPr>
          <a:xfrm>
            <a:off x="228600" y="4981704"/>
            <a:ext cx="3471862" cy="1190625"/>
          </a:xfrm>
          <a:prstGeom prst="rect">
            <a:avLst/>
          </a:prstGeom>
          <a:noFill/>
          <a:ln>
            <a:noFill/>
          </a:ln>
        </p:spPr>
        <p:txBody>
          <a:bodyPr spcFirstLastPara="1" wrap="square" lIns="91425" tIns="45700" rIns="91425" bIns="45700" anchor="t" anchorCtr="0"/>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panose="020B0604020202020204"/>
              <a:buNone/>
              <a:defRPr sz="3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914400" marR="0" lvl="1" indent="-406400" algn="ctr" rtl="0">
              <a:lnSpc>
                <a:spcPct val="100000"/>
              </a:lnSpc>
              <a:spcBef>
                <a:spcPts val="560"/>
              </a:spcBef>
              <a:spcAft>
                <a:spcPts val="0"/>
              </a:spcAft>
              <a:buClr>
                <a:srgbClr val="888888"/>
              </a:buClr>
              <a:buSzPts val="2800"/>
              <a:buFont typeface="Arial" panose="020B0604020202020204"/>
              <a:buNone/>
              <a:defRPr sz="28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1371600" marR="0" lvl="2" indent="-381000" algn="ctr" rtl="0">
              <a:lnSpc>
                <a:spcPct val="100000"/>
              </a:lnSpc>
              <a:spcBef>
                <a:spcPts val="480"/>
              </a:spcBef>
              <a:spcAft>
                <a:spcPts val="0"/>
              </a:spcAft>
              <a:buClr>
                <a:srgbClr val="888888"/>
              </a:buClr>
              <a:buSzPts val="2400"/>
              <a:buFont typeface="Arial" panose="020B0604020202020204"/>
              <a:buNone/>
              <a:defRPr sz="2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1828800" marR="0" lvl="3"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2286000" marR="0" lvl="4"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2743200" marR="0" lvl="5"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3200400" marR="0" lvl="6"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3657600" marR="0" lvl="7"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4114800" marR="0" lvl="8"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indent="0">
              <a:lnSpc>
                <a:spcPct val="170000"/>
              </a:lnSpc>
              <a:spcBef>
                <a:spcPts val="590"/>
              </a:spcBef>
              <a:buSzPct val="100000"/>
            </a:pPr>
            <a:r>
              <a:rPr lang="en-US" sz="1800" b="1" dirty="0">
                <a:solidFill>
                  <a:schemeClr val="tx1"/>
                </a:solidFill>
              </a:rPr>
              <a:t>Guide name: </a:t>
            </a:r>
            <a:r>
              <a:rPr lang="en-IN" altLang="en-US" sz="1800" b="1" dirty="0">
                <a:solidFill>
                  <a:schemeClr val="tx1"/>
                </a:solidFill>
              </a:rPr>
              <a:t> T. KARTHICK</a:t>
            </a:r>
            <a:endParaRPr lang="en-US" sz="1800" b="1" dirty="0">
              <a:solidFill>
                <a:schemeClr val="tx1"/>
              </a:solidFill>
            </a:endParaRPr>
          </a:p>
          <a:p>
            <a:pPr marL="0" indent="0">
              <a:lnSpc>
                <a:spcPct val="170000"/>
              </a:lnSpc>
              <a:spcBef>
                <a:spcPts val="590"/>
              </a:spcBef>
              <a:buSzPct val="100000"/>
            </a:pPr>
            <a:r>
              <a:rPr lang="en-US" sz="1800" b="1" dirty="0">
                <a:solidFill>
                  <a:schemeClr val="tx1"/>
                </a:solidFill>
              </a:rPr>
              <a:t>Designation:</a:t>
            </a:r>
            <a:r>
              <a:rPr lang="en-IN" altLang="en-US" sz="1800" b="1" dirty="0">
                <a:solidFill>
                  <a:schemeClr val="tx1"/>
                </a:solidFill>
              </a:rPr>
              <a:t> Assistant Professor</a:t>
            </a:r>
            <a:br>
              <a:rPr lang="en-US" sz="1800" b="1" dirty="0">
                <a:solidFill>
                  <a:schemeClr val="tx1"/>
                </a:solidFill>
              </a:rPr>
            </a:br>
            <a:r>
              <a:rPr lang="en-US" sz="1800" b="1" dirty="0">
                <a:solidFill>
                  <a:schemeClr val="tx1"/>
                </a:solidFill>
              </a:rPr>
              <a:t>Department:</a:t>
            </a:r>
            <a:r>
              <a:rPr lang="en-IN" altLang="en-US" sz="1800" b="1" dirty="0">
                <a:solidFill>
                  <a:schemeClr val="tx1"/>
                </a:solidFill>
              </a:rPr>
              <a:t> DSBS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20A58-D9F6-9409-7143-8C8E07156487}"/>
              </a:ext>
            </a:extLst>
          </p:cNvPr>
          <p:cNvSpPr>
            <a:spLocks noGrp="1"/>
          </p:cNvSpPr>
          <p:nvPr>
            <p:ph type="title"/>
          </p:nvPr>
        </p:nvSpPr>
        <p:spPr>
          <a:xfrm>
            <a:off x="457200" y="462349"/>
            <a:ext cx="8229600" cy="582613"/>
          </a:xfrm>
        </p:spPr>
        <p:txBody>
          <a:bodyPr/>
          <a:lstStyle/>
          <a:p>
            <a:pPr algn="ctr"/>
            <a:r>
              <a:rPr lang="en-US" b="1" dirty="0">
                <a:sym typeface="+mn-ea"/>
              </a:rPr>
              <a:t>Table of Contents</a:t>
            </a:r>
            <a:endParaRPr lang="en-IN" dirty="0"/>
          </a:p>
        </p:txBody>
      </p:sp>
      <p:sp>
        <p:nvSpPr>
          <p:cNvPr id="3" name="Content Placeholder 2">
            <a:extLst>
              <a:ext uri="{FF2B5EF4-FFF2-40B4-BE49-F238E27FC236}">
                <a16:creationId xmlns:a16="http://schemas.microsoft.com/office/drawing/2014/main" id="{3E2105CB-9D29-4B9C-295B-E2873AFC1614}"/>
              </a:ext>
            </a:extLst>
          </p:cNvPr>
          <p:cNvSpPr>
            <a:spLocks noGrp="1"/>
          </p:cNvSpPr>
          <p:nvPr>
            <p:ph idx="1"/>
          </p:nvPr>
        </p:nvSpPr>
        <p:spPr>
          <a:xfrm>
            <a:off x="457200" y="1530350"/>
            <a:ext cx="8229600" cy="4953000"/>
          </a:xfrm>
        </p:spPr>
        <p:txBody>
          <a:bodyPr/>
          <a:lstStyle/>
          <a:p>
            <a:r>
              <a:rPr lang="en-US" dirty="0"/>
              <a:t>Introduction</a:t>
            </a:r>
          </a:p>
          <a:p>
            <a:r>
              <a:rPr lang="en-US" dirty="0"/>
              <a:t>Objectives</a:t>
            </a:r>
          </a:p>
          <a:p>
            <a:r>
              <a:rPr lang="en-US" dirty="0"/>
              <a:t>Literature Survey</a:t>
            </a:r>
          </a:p>
          <a:p>
            <a:r>
              <a:rPr lang="en-US" dirty="0"/>
              <a:t>Architecture Diagram</a:t>
            </a:r>
          </a:p>
          <a:p>
            <a:r>
              <a:rPr lang="en-US" dirty="0"/>
              <a:t>UML Diagrams</a:t>
            </a:r>
          </a:p>
          <a:p>
            <a:r>
              <a:rPr lang="en-US" dirty="0"/>
              <a:t>Algorithm Used</a:t>
            </a:r>
          </a:p>
          <a:p>
            <a:endParaRPr lang="en-IN" dirty="0"/>
          </a:p>
        </p:txBody>
      </p:sp>
      <p:sp>
        <p:nvSpPr>
          <p:cNvPr id="4" name="Slide Number Placeholder 3">
            <a:extLst>
              <a:ext uri="{FF2B5EF4-FFF2-40B4-BE49-F238E27FC236}">
                <a16:creationId xmlns:a16="http://schemas.microsoft.com/office/drawing/2014/main" id="{97B89549-6A1A-4EB4-BCD0-9ABA4579494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013967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714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dirty="0">
                <a:sym typeface="+mn-ea"/>
              </a:rPr>
              <a:t> </a:t>
            </a:r>
            <a:r>
              <a:rPr lang="en-US" b="1" dirty="0">
                <a:sym typeface="+mn-ea"/>
              </a:rPr>
              <a:t>Introduction</a:t>
            </a:r>
            <a:endParaRPr lang="en-US" altLang="en-US" b="1" dirty="0">
              <a:sym typeface="+mn-ea"/>
            </a:endParaRPr>
          </a:p>
        </p:txBody>
      </p:sp>
      <p:sp>
        <p:nvSpPr>
          <p:cNvPr id="97" name="Google Shape;97;p2"/>
          <p:cNvSpPr txBox="1">
            <a:spLocks noGrp="1"/>
          </p:cNvSpPr>
          <p:nvPr>
            <p:ph type="body" idx="1"/>
          </p:nvPr>
        </p:nvSpPr>
        <p:spPr>
          <a:xfrm>
            <a:off x="457200" y="1214438"/>
            <a:ext cx="8229600" cy="5189838"/>
          </a:xfrm>
          <a:prstGeom prst="rect">
            <a:avLst/>
          </a:prstGeom>
          <a:noFill/>
          <a:ln>
            <a:noFill/>
          </a:ln>
        </p:spPr>
        <p:txBody>
          <a:bodyPr spcFirstLastPara="1" wrap="square" lIns="91425" tIns="45700" rIns="91425" bIns="45700" anchor="t" anchorCtr="0">
            <a:normAutofit/>
          </a:bodyPr>
          <a:lstStyle/>
          <a:p>
            <a:pPr marL="297815" indent="-285750">
              <a:lnSpc>
                <a:spcPct val="100000"/>
              </a:lnSpc>
              <a:spcBef>
                <a:spcPts val="100"/>
              </a:spcBef>
              <a:buFont typeface="Arial" panose="020B0604020202020204" pitchFamily="34" charset="0"/>
              <a:buChar char="•"/>
              <a:tabLst>
                <a:tab pos="401955" algn="l"/>
                <a:tab pos="402590" algn="l"/>
              </a:tabLst>
            </a:pPr>
            <a:r>
              <a:rPr lang="en-US" sz="2000" dirty="0">
                <a:latin typeface="Tahoma" panose="020B0604030504040204" pitchFamily="34" charset="0"/>
                <a:ea typeface="Tahoma" panose="020B0604030504040204" pitchFamily="34" charset="0"/>
                <a:cs typeface="Tahoma" panose="020B0604030504040204" pitchFamily="34" charset="0"/>
              </a:rPr>
              <a:t>The global e-commerce automotive aftermarket size was valued at USD 53.78 billion in 2020 and is expected to expand at a compound annual growth rate (CAGR) of 14.6 % from 2021 to 2028.</a:t>
            </a:r>
          </a:p>
          <a:p>
            <a:pPr marL="297815" marR="813435" indent="-285750">
              <a:lnSpc>
                <a:spcPct val="114999"/>
              </a:lnSpc>
              <a:buFont typeface="Arial" panose="020B0604020202020204" pitchFamily="34" charset="0"/>
              <a:buChar char="•"/>
              <a:tabLst>
                <a:tab pos="401955" algn="l"/>
                <a:tab pos="402590" algn="l"/>
              </a:tabLst>
            </a:pPr>
            <a:r>
              <a:rPr lang="en-US" sz="2000" dirty="0">
                <a:latin typeface="Tahoma" panose="020B0604030504040204" pitchFamily="34" charset="0"/>
                <a:ea typeface="Tahoma" panose="020B0604030504040204" pitchFamily="34" charset="0"/>
                <a:cs typeface="Tahoma" panose="020B0604030504040204" pitchFamily="34" charset="0"/>
              </a:rPr>
              <a:t>The rising need for people and independent retailers to access more affordable automotive parts for sale in the aftermarket offers an impetus to the market.</a:t>
            </a:r>
          </a:p>
          <a:p>
            <a:pPr marL="297815" marR="5080" indent="-285750">
              <a:lnSpc>
                <a:spcPct val="114999"/>
              </a:lnSpc>
              <a:buFont typeface="Arial" panose="020B0604020202020204" pitchFamily="34" charset="0"/>
              <a:buChar char="•"/>
              <a:tabLst>
                <a:tab pos="401955" algn="l"/>
                <a:tab pos="402590" algn="l"/>
              </a:tabLst>
            </a:pPr>
            <a:r>
              <a:rPr lang="en-US" sz="20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Vehicle systems are complex both in hardware and software so their maintenance is challenging.</a:t>
            </a:r>
          </a:p>
          <a:p>
            <a:pPr marL="297815" marR="5080" indent="-285750">
              <a:lnSpc>
                <a:spcPct val="114999"/>
              </a:lnSpc>
              <a:buFont typeface="Arial" panose="020B0604020202020204" pitchFamily="34" charset="0"/>
              <a:buChar char="•"/>
              <a:tabLst>
                <a:tab pos="401955" algn="l"/>
                <a:tab pos="402590" algn="l"/>
              </a:tabLst>
            </a:pPr>
            <a:r>
              <a:rPr lang="en-US" sz="200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Maintenance strategy being used in vehicle industry is normally reactive that results in reduction of lifetime of vehicle and also loss of money, thus predictive maintenance is required on this stage to overcome these issues.</a:t>
            </a:r>
          </a:p>
          <a:p>
            <a:pPr marL="297815" marR="5080" indent="-285750">
              <a:lnSpc>
                <a:spcPct val="114999"/>
              </a:lnSpc>
              <a:buFont typeface="Arial" panose="020B0604020202020204" pitchFamily="34" charset="0"/>
              <a:buChar char="•"/>
              <a:tabLst>
                <a:tab pos="401955" algn="l"/>
                <a:tab pos="402590" algn="l"/>
              </a:tabLst>
            </a:pPr>
            <a:r>
              <a:rPr lang="en-US" sz="2000" dirty="0">
                <a:latin typeface="Tahoma" panose="020B0604030504040204" pitchFamily="34" charset="0"/>
                <a:ea typeface="Tahoma" panose="020B0604030504040204" pitchFamily="34" charset="0"/>
                <a:cs typeface="Tahoma" panose="020B0604030504040204" pitchFamily="34" charset="0"/>
              </a:rPr>
              <a:t>This ongoing trend of pure-play retailers deploying e-commerce strategies is projected to fuel the growth of the market.</a:t>
            </a:r>
          </a:p>
          <a:p>
            <a:pPr marL="546100" lvl="0" algn="l" rtl="0">
              <a:spcBef>
                <a:spcPts val="640"/>
              </a:spcBef>
              <a:spcAft>
                <a:spcPts val="0"/>
              </a:spcAft>
              <a:buClr>
                <a:schemeClr val="dk1"/>
              </a:buClr>
              <a:buSzPts val="3200"/>
            </a:pPr>
            <a:endParaRPr sz="2000" dirty="0"/>
          </a:p>
        </p:txBody>
      </p:sp>
      <p:sp>
        <p:nvSpPr>
          <p:cNvPr id="101" name="Google Shape;101;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469264" y="374115"/>
            <a:ext cx="8205470" cy="646331"/>
          </a:xfrm>
          <a:prstGeom prst="rect">
            <a:avLst/>
          </a:prstGeom>
          <a:noFill/>
        </p:spPr>
        <p:txBody>
          <a:bodyPr wrap="square" rtlCol="0">
            <a:spAutoFit/>
          </a:bodyPr>
          <a:lstStyle/>
          <a:p>
            <a:pPr algn="ctr"/>
            <a:r>
              <a:rPr lang="en-IN" altLang="en-US" sz="3600" b="1" dirty="0">
                <a:latin typeface="+mj-lt"/>
              </a:rPr>
              <a:t>Problem Statement</a:t>
            </a:r>
          </a:p>
        </p:txBody>
      </p:sp>
      <p:sp>
        <p:nvSpPr>
          <p:cNvPr id="7" name="Text Box 6"/>
          <p:cNvSpPr txBox="1"/>
          <p:nvPr/>
        </p:nvSpPr>
        <p:spPr>
          <a:xfrm>
            <a:off x="154459" y="1188205"/>
            <a:ext cx="8835081" cy="5295680"/>
          </a:xfrm>
          <a:prstGeom prst="rect">
            <a:avLst/>
          </a:prstGeom>
          <a:noFill/>
        </p:spPr>
        <p:txBody>
          <a:bodyPr wrap="square" rtlCol="0">
            <a:spAutoFit/>
          </a:bodyPr>
          <a:lstStyle/>
          <a:p>
            <a:pPr marL="297815" marR="1022350" indent="-285750">
              <a:lnSpc>
                <a:spcPct val="150000"/>
              </a:lnSpc>
              <a:buFont typeface="Arial" panose="020B0604020202020204" pitchFamily="34" charset="0"/>
              <a:buChar char="•"/>
              <a:tabLst>
                <a:tab pos="401955" algn="l"/>
                <a:tab pos="402590" algn="l"/>
              </a:tabLst>
            </a:pPr>
            <a:r>
              <a:rPr lang="en-US" sz="1900" spc="-15" dirty="0">
                <a:latin typeface="Tahoma"/>
                <a:cs typeface="Tahoma"/>
              </a:rPr>
              <a:t>Analyze the information such as distance travelled since the time it is active, years used, model of car, and other factors to estimate the insurance amount to be paid and give maintenance alerts if required.</a:t>
            </a:r>
          </a:p>
          <a:p>
            <a:pPr marL="297815" marR="1022350" indent="-285750">
              <a:lnSpc>
                <a:spcPct val="150000"/>
              </a:lnSpc>
              <a:buFont typeface="Arial" panose="020B0604020202020204" pitchFamily="34" charset="0"/>
              <a:buChar char="•"/>
              <a:tabLst>
                <a:tab pos="401955" algn="l"/>
                <a:tab pos="402590" algn="l"/>
              </a:tabLst>
            </a:pPr>
            <a:r>
              <a:rPr lang="en-US" sz="1900" spc="-10" dirty="0">
                <a:latin typeface="Tahoma"/>
                <a:cs typeface="Tahoma"/>
              </a:rPr>
              <a:t>Give an option to the customer whether they like to order a technician to do the work or the customer themselves do it if they have the knowledge, however choosing the later will not give any warranty or free replacement if anything goes wrong.</a:t>
            </a:r>
          </a:p>
          <a:p>
            <a:pPr marL="297815" marR="5080" indent="-285750">
              <a:lnSpc>
                <a:spcPct val="150000"/>
              </a:lnSpc>
              <a:buFont typeface="Arial" panose="020B0604020202020204" pitchFamily="34" charset="0"/>
              <a:buChar char="•"/>
              <a:tabLst>
                <a:tab pos="401955" algn="l"/>
                <a:tab pos="402590" algn="l"/>
              </a:tabLst>
            </a:pPr>
            <a:r>
              <a:rPr lang="en-US" sz="1900" spc="-10" dirty="0">
                <a:latin typeface="Tahoma"/>
                <a:cs typeface="Tahoma"/>
              </a:rPr>
              <a:t>Estimate the insurance claim that would be received by the customer due to faults caused by some unforeseen circumstances.</a:t>
            </a:r>
          </a:p>
          <a:p>
            <a:pPr marL="297815" marR="5080" indent="-285750">
              <a:lnSpc>
                <a:spcPct val="150000"/>
              </a:lnSpc>
              <a:buFont typeface="Arial" panose="020B0604020202020204" pitchFamily="34" charset="0"/>
              <a:buChar char="•"/>
              <a:tabLst>
                <a:tab pos="401955" algn="l"/>
                <a:tab pos="402590" algn="l"/>
              </a:tabLst>
            </a:pPr>
            <a:r>
              <a:rPr lang="en-US" sz="1900" dirty="0">
                <a:latin typeface="Tahoma" panose="020B0604030504040204" pitchFamily="34" charset="0"/>
                <a:ea typeface="Tahoma" panose="020B0604030504040204" pitchFamily="34" charset="0"/>
                <a:cs typeface="Tahoma" panose="020B0604030504040204" pitchFamily="34" charset="0"/>
              </a:rPr>
              <a:t>The system will also provide e-commerce support where in, if the issue is with a particular part then that particular part will be searched online and displayed to the customer by using the NLP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5</a:t>
            </a:fld>
            <a:endParaRPr lang="en-US"/>
          </a:p>
        </p:txBody>
      </p:sp>
      <p:sp>
        <p:nvSpPr>
          <p:cNvPr id="3" name="Text Box 2"/>
          <p:cNvSpPr txBox="1"/>
          <p:nvPr/>
        </p:nvSpPr>
        <p:spPr>
          <a:xfrm>
            <a:off x="432116" y="216997"/>
            <a:ext cx="8279765" cy="646331"/>
          </a:xfrm>
          <a:prstGeom prst="rect">
            <a:avLst/>
          </a:prstGeom>
          <a:noFill/>
        </p:spPr>
        <p:txBody>
          <a:bodyPr wrap="square" rtlCol="0">
            <a:spAutoFit/>
          </a:bodyPr>
          <a:lstStyle/>
          <a:p>
            <a:pPr algn="ctr"/>
            <a:r>
              <a:rPr lang="en-US" altLang="en-US" sz="3600" b="1" dirty="0">
                <a:latin typeface="+mj-lt"/>
              </a:rPr>
              <a:t>Objectives</a:t>
            </a:r>
            <a:endParaRPr lang="en-IN" altLang="en-US" sz="3600" b="1" dirty="0">
              <a:latin typeface="+mj-lt"/>
            </a:endParaRPr>
          </a:p>
        </p:txBody>
      </p:sp>
      <p:sp>
        <p:nvSpPr>
          <p:cNvPr id="4" name="Text Box 3"/>
          <p:cNvSpPr txBox="1"/>
          <p:nvPr/>
        </p:nvSpPr>
        <p:spPr>
          <a:xfrm>
            <a:off x="432116" y="1144627"/>
            <a:ext cx="8279765" cy="5496376"/>
          </a:xfrm>
          <a:prstGeom prst="rect">
            <a:avLst/>
          </a:prstGeom>
          <a:noFill/>
        </p:spPr>
        <p:txBody>
          <a:bodyPr wrap="square" rtlCol="0">
            <a:spAutoFit/>
          </a:bodyPr>
          <a:lstStyle/>
          <a:p>
            <a:pPr marL="297815" indent="-285750">
              <a:lnSpc>
                <a:spcPct val="100000"/>
              </a:lnSpc>
              <a:spcBef>
                <a:spcPts val="100"/>
              </a:spcBef>
              <a:buFont typeface="Arial" panose="020B0604020202020204" pitchFamily="34" charset="0"/>
              <a:buChar char="•"/>
              <a:tabLst>
                <a:tab pos="401955" algn="l"/>
                <a:tab pos="402590" algn="l"/>
              </a:tabLst>
            </a:pPr>
            <a:r>
              <a:rPr lang="en-US" sz="1900" dirty="0">
                <a:latin typeface="Tahoma"/>
                <a:cs typeface="Tahoma"/>
              </a:rPr>
              <a:t>Historically, technicians were called in order to assess the problems which the car has and they would suggest the estimated cost for fixing the issue as well.</a:t>
            </a:r>
          </a:p>
          <a:p>
            <a:pPr marL="297815" indent="-285750">
              <a:lnSpc>
                <a:spcPct val="100000"/>
              </a:lnSpc>
              <a:spcBef>
                <a:spcPts val="100"/>
              </a:spcBef>
              <a:buFont typeface="Arial" panose="020B0604020202020204" pitchFamily="34" charset="0"/>
              <a:buChar char="•"/>
              <a:tabLst>
                <a:tab pos="401955" algn="l"/>
                <a:tab pos="402590" algn="l"/>
              </a:tabLst>
            </a:pPr>
            <a:r>
              <a:rPr lang="en-US" sz="1900" dirty="0">
                <a:latin typeface="Tahoma"/>
                <a:cs typeface="Tahoma"/>
              </a:rPr>
              <a:t>In that system the chances of scamming the customers, not properly fixing the fault, not paying the insurance money to the customer due to lack of evidence and asking money way too much than the actual amount was common.</a:t>
            </a:r>
          </a:p>
          <a:p>
            <a:pPr marL="297815" indent="-285750">
              <a:lnSpc>
                <a:spcPct val="100000"/>
              </a:lnSpc>
              <a:spcBef>
                <a:spcPts val="100"/>
              </a:spcBef>
              <a:buFont typeface="Arial" panose="020B0604020202020204" pitchFamily="34" charset="0"/>
              <a:buChar char="•"/>
              <a:tabLst>
                <a:tab pos="401955" algn="l"/>
                <a:tab pos="402590" algn="l"/>
              </a:tabLst>
            </a:pPr>
            <a:r>
              <a:rPr lang="en-US" sz="1900" dirty="0">
                <a:latin typeface="Tahoma"/>
                <a:cs typeface="Tahoma"/>
              </a:rPr>
              <a:t>E-vehicle health monitoring and commerce systems were thus introduced to combat this problem from the market and provide a fair assessment for the problem at the best cost.</a:t>
            </a:r>
          </a:p>
          <a:p>
            <a:pPr marL="297815" indent="-285750">
              <a:lnSpc>
                <a:spcPct val="100000"/>
              </a:lnSpc>
              <a:spcBef>
                <a:spcPts val="100"/>
              </a:spcBef>
              <a:buFont typeface="Arial" panose="020B0604020202020204" pitchFamily="34" charset="0"/>
              <a:buChar char="•"/>
              <a:tabLst>
                <a:tab pos="401955" algn="l"/>
                <a:tab pos="402590" algn="l"/>
              </a:tabLst>
            </a:pPr>
            <a:r>
              <a:rPr lang="en-US" sz="1900" dirty="0">
                <a:latin typeface="Tahoma"/>
                <a:cs typeface="Tahoma"/>
              </a:rPr>
              <a:t>The current vehicle health monitoring systems uses ML algorithms to determine the condition of the vehicle and provide diagnosis for the same.</a:t>
            </a:r>
          </a:p>
          <a:p>
            <a:pPr marL="297815" indent="-285750">
              <a:lnSpc>
                <a:spcPct val="100000"/>
              </a:lnSpc>
              <a:spcBef>
                <a:spcPts val="100"/>
              </a:spcBef>
              <a:buFont typeface="Arial" panose="020B0604020202020204" pitchFamily="34" charset="0"/>
              <a:buChar char="•"/>
              <a:tabLst>
                <a:tab pos="401955" algn="l"/>
                <a:tab pos="402590" algn="l"/>
              </a:tabLst>
            </a:pPr>
            <a:r>
              <a:rPr lang="en-US" sz="1900" dirty="0">
                <a:latin typeface="Tahoma"/>
                <a:cs typeface="Tahoma"/>
              </a:rPr>
              <a:t>The replacement for the faulty parts is provided by the system at a minimum cost which is then installed by the technician.</a:t>
            </a:r>
          </a:p>
          <a:p>
            <a:pPr marL="297815" indent="-285750">
              <a:lnSpc>
                <a:spcPct val="100000"/>
              </a:lnSpc>
              <a:spcBef>
                <a:spcPts val="100"/>
              </a:spcBef>
              <a:buFont typeface="Arial" panose="020B0604020202020204" pitchFamily="34" charset="0"/>
              <a:buChar char="•"/>
              <a:tabLst>
                <a:tab pos="401955" algn="l"/>
                <a:tab pos="402590" algn="l"/>
              </a:tabLst>
            </a:pPr>
            <a:r>
              <a:rPr lang="en-US" sz="1900" dirty="0">
                <a:latin typeface="Tahoma"/>
                <a:cs typeface="Tahoma"/>
              </a:rPr>
              <a:t>If however the fault is there due to some unforeseen circumstances, diagnosis is done and the insurance money is paid to the customer.</a:t>
            </a:r>
          </a:p>
          <a:p>
            <a:pPr marL="342900" indent="-342900">
              <a:buFont typeface="Arial" panose="020B0604020202020204" pitchFamily="34" charset="0"/>
              <a:buChar char="•"/>
            </a:pPr>
            <a:endParaRPr lang="en-IN"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6</a:t>
            </a:fld>
            <a:endParaRPr lang="en-US"/>
          </a:p>
        </p:txBody>
      </p:sp>
      <p:sp>
        <p:nvSpPr>
          <p:cNvPr id="6" name="Text Box 5"/>
          <p:cNvSpPr txBox="1"/>
          <p:nvPr/>
        </p:nvSpPr>
        <p:spPr>
          <a:xfrm>
            <a:off x="538480" y="22170"/>
            <a:ext cx="8067040" cy="646331"/>
          </a:xfrm>
          <a:prstGeom prst="rect">
            <a:avLst/>
          </a:prstGeom>
          <a:noFill/>
        </p:spPr>
        <p:txBody>
          <a:bodyPr wrap="square" rtlCol="0">
            <a:spAutoFit/>
          </a:bodyPr>
          <a:lstStyle/>
          <a:p>
            <a:pPr algn="ctr"/>
            <a:r>
              <a:rPr lang="en-IN" altLang="en-US" sz="3600" b="1" dirty="0"/>
              <a:t>Literature Review</a:t>
            </a:r>
          </a:p>
        </p:txBody>
      </p:sp>
      <p:graphicFrame>
        <p:nvGraphicFramePr>
          <p:cNvPr id="3" name="Table 2"/>
          <p:cNvGraphicFramePr/>
          <p:nvPr>
            <p:extLst>
              <p:ext uri="{D42A27DB-BD31-4B8C-83A1-F6EECF244321}">
                <p14:modId xmlns:p14="http://schemas.microsoft.com/office/powerpoint/2010/main" val="3457248864"/>
              </p:ext>
            </p:extLst>
          </p:nvPr>
        </p:nvGraphicFramePr>
        <p:xfrm>
          <a:off x="785812" y="668501"/>
          <a:ext cx="7572375" cy="5965059"/>
        </p:xfrm>
        <a:graphic>
          <a:graphicData uri="http://schemas.openxmlformats.org/drawingml/2006/table">
            <a:tbl>
              <a:tblPr firstRow="1" bandRow="1">
                <a:tableStyleId>{5C22544A-7EE6-4342-B048-85BDC9FD1C3A}</a:tableStyleId>
              </a:tblPr>
              <a:tblGrid>
                <a:gridCol w="25241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1301619">
                <a:tc>
                  <a:txBody>
                    <a:bodyPr/>
                    <a:lstStyle/>
                    <a:p>
                      <a:pPr algn="ctr">
                        <a:buNone/>
                      </a:pPr>
                      <a:endParaRPr lang="en-IN" altLang="en-US" dirty="0"/>
                    </a:p>
                    <a:p>
                      <a:pPr algn="ctr">
                        <a:buNone/>
                      </a:pPr>
                      <a:r>
                        <a:rPr lang="en-IN" altLang="en-US" sz="3600" dirty="0"/>
                        <a:t>  </a:t>
                      </a:r>
                      <a:r>
                        <a:rPr lang="en-IN" altLang="en-US" sz="2800" dirty="0"/>
                        <a:t>Title</a:t>
                      </a:r>
                    </a:p>
                  </a:txBody>
                  <a:tcPr/>
                </a:tc>
                <a:tc>
                  <a:txBody>
                    <a:bodyPr/>
                    <a:lstStyle/>
                    <a:p>
                      <a:pPr algn="ctr">
                        <a:buNone/>
                      </a:pPr>
                      <a:endParaRPr lang="en-IN" altLang="en-US" sz="2800" dirty="0"/>
                    </a:p>
                    <a:p>
                      <a:pPr algn="ctr">
                        <a:buNone/>
                      </a:pPr>
                      <a:r>
                        <a:rPr lang="en-IN" altLang="en-US" sz="2800" dirty="0"/>
                        <a:t>Methodology</a:t>
                      </a:r>
                    </a:p>
                  </a:txBody>
                  <a:tcPr/>
                </a:tc>
                <a:tc>
                  <a:txBody>
                    <a:bodyPr/>
                    <a:lstStyle/>
                    <a:p>
                      <a:pPr algn="ctr">
                        <a:buNone/>
                      </a:pPr>
                      <a:endParaRPr lang="en-IN" altLang="en-US" sz="2800"/>
                    </a:p>
                    <a:p>
                      <a:pPr algn="ctr">
                        <a:buNone/>
                      </a:pPr>
                      <a:r>
                        <a:rPr lang="en-IN" altLang="en-US" sz="2800"/>
                        <a:t>Observation</a:t>
                      </a:r>
                    </a:p>
                  </a:txBody>
                  <a:tcPr/>
                </a:tc>
                <a:extLst>
                  <a:ext uri="{0D108BD9-81ED-4DB2-BD59-A6C34878D82A}">
                    <a16:rowId xmlns:a16="http://schemas.microsoft.com/office/drawing/2014/main" val="10000"/>
                  </a:ext>
                </a:extLst>
              </a:tr>
              <a:tr h="1925983">
                <a:tc>
                  <a:txBody>
                    <a:bodyPr/>
                    <a:lstStyle/>
                    <a:p>
                      <a:pPr algn="ctr">
                        <a:buNone/>
                      </a:pPr>
                      <a:r>
                        <a:rPr lang="en-IN" altLang="en-US" sz="1400" dirty="0"/>
                        <a:t> Vehicle Health Monitoring and Analysis May 2016, </a:t>
                      </a:r>
                      <a:r>
                        <a:rPr lang="en-IN" altLang="en-US" sz="1400" dirty="0" err="1"/>
                        <a:t>Parmesh</a:t>
                      </a:r>
                      <a:r>
                        <a:rPr lang="en-IN" altLang="en-US" sz="1400" dirty="0"/>
                        <a:t> K. R</a:t>
                      </a:r>
                    </a:p>
                  </a:txBody>
                  <a:tcPr/>
                </a:tc>
                <a:tc>
                  <a:txBody>
                    <a:bodyPr/>
                    <a:lstStyle/>
                    <a:p>
                      <a:pPr algn="ctr">
                        <a:buNone/>
                      </a:pPr>
                      <a:r>
                        <a:rPr lang="en-US" sz="1400" b="0" i="0" kern="1200" dirty="0">
                          <a:solidFill>
                            <a:schemeClr val="dk1"/>
                          </a:solidFill>
                          <a:effectLst/>
                          <a:latin typeface="+mn-lt"/>
                          <a:ea typeface="+mn-ea"/>
                          <a:cs typeface="+mn-cs"/>
                        </a:rPr>
                        <a:t>Modern vehicles are integrated with more number of ECUs and sensors which make them smarter in terms of engine decisions, performance, fuel efficiency, security and stability.</a:t>
                      </a:r>
                      <a:endParaRPr lang="en-IN" altLang="en-US" sz="1400" dirty="0"/>
                    </a:p>
                  </a:txBody>
                  <a:tcPr/>
                </a:tc>
                <a:tc>
                  <a:txBody>
                    <a:bodyPr/>
                    <a:lstStyle/>
                    <a:p>
                      <a:pPr algn="ctr">
                        <a:buNone/>
                      </a:pPr>
                      <a:r>
                        <a:rPr lang="en-US" sz="1400" b="0" i="0" kern="1200" dirty="0">
                          <a:solidFill>
                            <a:schemeClr val="dk1"/>
                          </a:solidFill>
                          <a:effectLst/>
                          <a:latin typeface="+mn-lt"/>
                          <a:ea typeface="+mn-ea"/>
                          <a:cs typeface="+mn-cs"/>
                        </a:rPr>
                        <a:t>ECUs provides useful data in the form of diagnostic codes via OBDII (on-board diagnostics) protocol, these codes determine a specific issue in the vehicular system which is used by service technicians to address the issues occurred.</a:t>
                      </a:r>
                      <a:endParaRPr lang="en-IN" altLang="en-US" sz="1400" dirty="0"/>
                    </a:p>
                  </a:txBody>
                  <a:tcPr/>
                </a:tc>
                <a:extLst>
                  <a:ext uri="{0D108BD9-81ED-4DB2-BD59-A6C34878D82A}">
                    <a16:rowId xmlns:a16="http://schemas.microsoft.com/office/drawing/2014/main" val="10001"/>
                  </a:ext>
                </a:extLst>
              </a:tr>
              <a:tr h="2538796">
                <a:tc>
                  <a:txBody>
                    <a:bodyPr/>
                    <a:lstStyle/>
                    <a:p>
                      <a:pPr algn="ctr">
                        <a:buNone/>
                      </a:pPr>
                      <a:r>
                        <a:rPr lang="en-US" altLang="en-US" sz="1400" dirty="0"/>
                        <a:t>A Vehicle Health Monitoring System Evaluated Experimentally on a Passenger Vehicle October 2006, </a:t>
                      </a:r>
                      <a:r>
                        <a:rPr lang="en-US" altLang="en-US" sz="1400" dirty="0" err="1"/>
                        <a:t>Hok</a:t>
                      </a:r>
                      <a:r>
                        <a:rPr lang="en-US" altLang="en-US" sz="1400" dirty="0"/>
                        <a:t> K. Ng, Robert H. Chen, Jason Speyer</a:t>
                      </a:r>
                      <a:endParaRPr lang="en-IN" altLang="en-US" sz="1400" dirty="0"/>
                    </a:p>
                  </a:txBody>
                  <a:tcPr/>
                </a:tc>
                <a:tc>
                  <a:txBody>
                    <a:bodyPr/>
                    <a:lstStyle/>
                    <a:p>
                      <a:pPr algn="ctr">
                        <a:buNone/>
                      </a:pPr>
                      <a:r>
                        <a:rPr lang="en-US" sz="1400" b="0" i="0" kern="1200" dirty="0">
                          <a:solidFill>
                            <a:schemeClr val="dk1"/>
                          </a:solidFill>
                          <a:effectLst/>
                          <a:latin typeface="+mn-lt"/>
                          <a:ea typeface="+mn-ea"/>
                          <a:cs typeface="+mn-cs"/>
                        </a:rPr>
                        <a:t>A residual generator and a residual processor are designed together to detect and identify actuator and sensor faults of the Buick </a:t>
                      </a:r>
                      <a:r>
                        <a:rPr lang="en-US" sz="1400" b="0" i="0" kern="1200" dirty="0" err="1">
                          <a:solidFill>
                            <a:schemeClr val="dk1"/>
                          </a:solidFill>
                          <a:effectLst/>
                          <a:latin typeface="+mn-lt"/>
                          <a:ea typeface="+mn-ea"/>
                          <a:cs typeface="+mn-cs"/>
                        </a:rPr>
                        <a:t>LeSabre</a:t>
                      </a:r>
                      <a:r>
                        <a:rPr lang="en-US" sz="1400" b="0" i="0" kern="1200" dirty="0">
                          <a:solidFill>
                            <a:schemeClr val="dk1"/>
                          </a:solidFill>
                          <a:effectLst/>
                          <a:latin typeface="+mn-lt"/>
                          <a:ea typeface="+mn-ea"/>
                          <a:cs typeface="+mn-cs"/>
                        </a:rPr>
                        <a:t> rapidly. The residual generator includes fault detection filters and parity equations.</a:t>
                      </a:r>
                      <a:endParaRPr lang="en-IN" altLang="en-US" sz="1400" dirty="0"/>
                    </a:p>
                  </a:txBody>
                  <a:tcPr/>
                </a:tc>
                <a:tc>
                  <a:txBody>
                    <a:bodyPr/>
                    <a:lstStyle/>
                    <a:p>
                      <a:pPr algn="ctr">
                        <a:buNone/>
                      </a:pPr>
                      <a:r>
                        <a:rPr lang="en-US" sz="1400" b="0" i="0" kern="1200" dirty="0">
                          <a:solidFill>
                            <a:schemeClr val="dk1"/>
                          </a:solidFill>
                          <a:effectLst/>
                          <a:latin typeface="+mn-lt"/>
                          <a:ea typeface="+mn-ea"/>
                          <a:cs typeface="+mn-cs"/>
                        </a:rPr>
                        <a:t>A real intermittent sensor fault occurred and was immediately detected and identified. The real-time evaluation demonstrates that the vehicle health monitoring system can detect and identify actuator and sensor faults under various disturbances and uncertainties with almost minimal detection latency.</a:t>
                      </a:r>
                      <a:endParaRPr lang="en-IN" altLang="en-US" sz="1400"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7</a:t>
            </a:fld>
            <a:endParaRPr lang="en-US"/>
          </a:p>
        </p:txBody>
      </p:sp>
      <p:sp>
        <p:nvSpPr>
          <p:cNvPr id="7" name="Slide Number Placeholder 4"/>
          <p:cNvSpPr>
            <a:spLocks noGrp="1"/>
          </p:cNvSpPr>
          <p:nvPr/>
        </p:nvSpPr>
        <p:spPr>
          <a:xfrm>
            <a:off x="6680200" y="6372225"/>
            <a:ext cx="2133600" cy="476250"/>
          </a:xfrm>
          <a:prstGeom prst="rect">
            <a:avLst/>
          </a:prstGeom>
          <a:noFill/>
          <a:ln>
            <a:noFill/>
          </a:ln>
          <a:effectLst/>
        </p:spPr>
        <p:txBody>
          <a:bodyPr vert="horz" wrap="square" lIns="91440" tIns="45720" rIns="91440" bIns="45720" numCol="1" anchor="t" anchorCtr="0" compatLnSpc="1"/>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r" rtl="0">
              <a:spcBef>
                <a:spcPts val="0"/>
              </a:spcBef>
              <a:spcAft>
                <a:spcPts val="0"/>
              </a:spcAft>
              <a:buNone/>
            </a:pP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49949092"/>
              </p:ext>
            </p:extLst>
          </p:nvPr>
        </p:nvGraphicFramePr>
        <p:xfrm>
          <a:off x="811530" y="367982"/>
          <a:ext cx="7520940" cy="6122035"/>
        </p:xfrm>
        <a:graphic>
          <a:graphicData uri="http://schemas.openxmlformats.org/drawingml/2006/table">
            <a:tbl>
              <a:tblPr firstRow="1" bandRow="1">
                <a:tableStyleId>{5C22544A-7EE6-4342-B048-85BDC9FD1C3A}</a:tableStyleId>
              </a:tblPr>
              <a:tblGrid>
                <a:gridCol w="2506980">
                  <a:extLst>
                    <a:ext uri="{9D8B030D-6E8A-4147-A177-3AD203B41FA5}">
                      <a16:colId xmlns:a16="http://schemas.microsoft.com/office/drawing/2014/main" val="20000"/>
                    </a:ext>
                  </a:extLst>
                </a:gridCol>
                <a:gridCol w="2506980">
                  <a:extLst>
                    <a:ext uri="{9D8B030D-6E8A-4147-A177-3AD203B41FA5}">
                      <a16:colId xmlns:a16="http://schemas.microsoft.com/office/drawing/2014/main" val="20001"/>
                    </a:ext>
                  </a:extLst>
                </a:gridCol>
                <a:gridCol w="2506980">
                  <a:extLst>
                    <a:ext uri="{9D8B030D-6E8A-4147-A177-3AD203B41FA5}">
                      <a16:colId xmlns:a16="http://schemas.microsoft.com/office/drawing/2014/main" val="20002"/>
                    </a:ext>
                  </a:extLst>
                </a:gridCol>
              </a:tblGrid>
              <a:tr h="1397635">
                <a:tc>
                  <a:txBody>
                    <a:bodyPr/>
                    <a:lstStyle/>
                    <a:p>
                      <a:pPr algn="ctr">
                        <a:buNone/>
                      </a:pPr>
                      <a:endParaRPr lang="en-IN" altLang="en-US" dirty="0"/>
                    </a:p>
                    <a:p>
                      <a:pPr algn="ctr">
                        <a:buNone/>
                      </a:pPr>
                      <a:r>
                        <a:rPr lang="en-IN" altLang="en-US" sz="3600" dirty="0"/>
                        <a:t> </a:t>
                      </a:r>
                      <a:r>
                        <a:rPr lang="en-IN" altLang="en-US" sz="2800" dirty="0"/>
                        <a:t>Title</a:t>
                      </a:r>
                    </a:p>
                  </a:txBody>
                  <a:tcPr/>
                </a:tc>
                <a:tc>
                  <a:txBody>
                    <a:bodyPr/>
                    <a:lstStyle/>
                    <a:p>
                      <a:pPr algn="ctr">
                        <a:buNone/>
                      </a:pPr>
                      <a:endParaRPr lang="en-IN" altLang="en-US" sz="2800" dirty="0"/>
                    </a:p>
                    <a:p>
                      <a:pPr algn="ctr">
                        <a:buNone/>
                      </a:pPr>
                      <a:r>
                        <a:rPr lang="en-IN" altLang="en-US" sz="2800" dirty="0"/>
                        <a:t>Methodology</a:t>
                      </a:r>
                    </a:p>
                  </a:txBody>
                  <a:tcPr/>
                </a:tc>
                <a:tc>
                  <a:txBody>
                    <a:bodyPr/>
                    <a:lstStyle/>
                    <a:p>
                      <a:pPr algn="ctr">
                        <a:buNone/>
                      </a:pPr>
                      <a:endParaRPr lang="en-IN" altLang="en-US" sz="2800"/>
                    </a:p>
                    <a:p>
                      <a:pPr algn="ctr">
                        <a:buNone/>
                      </a:pPr>
                      <a:r>
                        <a:rPr lang="en-IN" altLang="en-US" sz="2800"/>
                        <a:t>Observation</a:t>
                      </a:r>
                    </a:p>
                  </a:txBody>
                  <a:tcPr/>
                </a:tc>
                <a:extLst>
                  <a:ext uri="{0D108BD9-81ED-4DB2-BD59-A6C34878D82A}">
                    <a16:rowId xmlns:a16="http://schemas.microsoft.com/office/drawing/2014/main" val="10000"/>
                  </a:ext>
                </a:extLst>
              </a:tr>
              <a:tr h="1296035">
                <a:tc>
                  <a:txBody>
                    <a:bodyPr/>
                    <a:lstStyle/>
                    <a:p>
                      <a:pPr algn="ctr">
                        <a:buNone/>
                      </a:pPr>
                      <a:r>
                        <a:rPr lang="en-US" altLang="en-US" sz="1400" dirty="0"/>
                        <a:t>Automotive vehicle Health Monitoring and Damage Detection System February 2022, Shankar D. </a:t>
                      </a:r>
                      <a:r>
                        <a:rPr lang="en-US" altLang="en-US" sz="1400" dirty="0" err="1"/>
                        <a:t>Birajdar</a:t>
                      </a:r>
                      <a:r>
                        <a:rPr lang="en-US" altLang="en-US" sz="1400" dirty="0"/>
                        <a:t>, Atul R. Saraf, Nilesh G Patil </a:t>
                      </a:r>
                      <a:endParaRPr lang="en-IN"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A damage detector is affixed to a surface of a material for detecting a damage or crack inside the material or vehicle body. In response to detecting a damage, a damage indicator is generated, </a:t>
                      </a:r>
                      <a:r>
                        <a:rPr lang="en-IN" sz="1400" b="0" i="0" kern="1200" dirty="0">
                          <a:solidFill>
                            <a:schemeClr val="dk1"/>
                          </a:solidFill>
                          <a:effectLst/>
                          <a:latin typeface="+mn-lt"/>
                          <a:ea typeface="+mn-ea"/>
                          <a:cs typeface="+mn-cs"/>
                        </a:rPr>
                        <a:t>A microstrip antenna /nanostrip antenna communicates the damage indicator to an external device. </a:t>
                      </a:r>
                      <a:endParaRPr lang="en-IN" altLang="en-US" sz="1400" dirty="0"/>
                    </a:p>
                  </a:txBody>
                  <a:tcPr/>
                </a:tc>
                <a:tc>
                  <a:txBody>
                    <a:bodyPr/>
                    <a:lstStyle/>
                    <a:p>
                      <a:pPr algn="ctr">
                        <a:buNone/>
                      </a:pPr>
                      <a:r>
                        <a:rPr lang="en-US" sz="1400" b="0" i="0" kern="1200" dirty="0">
                          <a:solidFill>
                            <a:schemeClr val="dk1"/>
                          </a:solidFill>
                          <a:effectLst/>
                          <a:latin typeface="+mn-lt"/>
                          <a:ea typeface="+mn-ea"/>
                          <a:cs typeface="+mn-cs"/>
                        </a:rPr>
                        <a:t>The microstrip antenna detects the damage and the time when the damage was detected. Additionally, the antenna may associate other information with the damage indicator such as temperature and acceleration information.</a:t>
                      </a:r>
                      <a:endParaRPr lang="en-IN" altLang="en-US" sz="1400" dirty="0"/>
                    </a:p>
                  </a:txBody>
                  <a:tcPr/>
                </a:tc>
                <a:extLst>
                  <a:ext uri="{0D108BD9-81ED-4DB2-BD59-A6C34878D82A}">
                    <a16:rowId xmlns:a16="http://schemas.microsoft.com/office/drawing/2014/main" val="10001"/>
                  </a:ext>
                </a:extLst>
              </a:tr>
              <a:tr h="1240790">
                <a:tc>
                  <a:txBody>
                    <a:bodyPr/>
                    <a:lstStyle/>
                    <a:p>
                      <a:pPr algn="ctr">
                        <a:buNone/>
                      </a:pPr>
                      <a:r>
                        <a:rPr lang="en-US" sz="1400" dirty="0"/>
                        <a:t>Demand Forecasting for Motor Vehicle Spare Parts January 2012, J. J. </a:t>
                      </a:r>
                      <a:r>
                        <a:rPr lang="en-US" sz="1400" dirty="0" err="1"/>
                        <a:t>Strasheim</a:t>
                      </a:r>
                      <a:endParaRPr lang="en-IN" altLang="en-US" sz="1400" dirty="0"/>
                    </a:p>
                  </a:txBody>
                  <a:tcPr/>
                </a:tc>
                <a:tc>
                  <a:txBody>
                    <a:bodyPr/>
                    <a:lstStyle/>
                    <a:p>
                      <a:pPr algn="ctr">
                        <a:buNone/>
                      </a:pPr>
                      <a:r>
                        <a:rPr lang="en-US" sz="1800" b="0" i="0" kern="120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A variety of alternative forecasting techniques were evaluated for this purpose with the aim of selecting one optimal technique to be implemented in an automatic reordering module of a real time computerized inventory management system.</a:t>
                      </a:r>
                      <a:endParaRPr lang="en-IN" altLang="en-US" sz="1400" dirty="0"/>
                    </a:p>
                  </a:txBody>
                  <a:tcPr/>
                </a:tc>
                <a:tc>
                  <a:txBody>
                    <a:bodyPr/>
                    <a:lstStyle/>
                    <a:p>
                      <a:pPr algn="ctr">
                        <a:buNone/>
                      </a:pPr>
                      <a:r>
                        <a:rPr lang="en-US" sz="1800" b="0" i="0" kern="120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Vehicle spare parts selected the optimal technique to forecast vehicle parts for the upcoming future so that the stock for those parts can be replenished.</a:t>
                      </a:r>
                      <a:endParaRPr lang="en-US" sz="1400"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7570"/>
            <a:ext cx="8229600" cy="582613"/>
          </a:xfrm>
        </p:spPr>
        <p:txBody>
          <a:bodyPr/>
          <a:lstStyle/>
          <a:p>
            <a:pPr algn="ctr"/>
            <a:r>
              <a:rPr lang="en-IN" altLang="en-US" b="1" dirty="0"/>
              <a:t>Architecture Diagram</a:t>
            </a:r>
          </a:p>
        </p:txBody>
      </p:sp>
      <p:pic>
        <p:nvPicPr>
          <p:cNvPr id="7" name="Picture 6">
            <a:extLst>
              <a:ext uri="{FF2B5EF4-FFF2-40B4-BE49-F238E27FC236}">
                <a16:creationId xmlns:a16="http://schemas.microsoft.com/office/drawing/2014/main" id="{93909176-420B-2CE5-131E-91A5B1F45455}"/>
              </a:ext>
            </a:extLst>
          </p:cNvPr>
          <p:cNvPicPr>
            <a:picLocks noChangeAspect="1"/>
          </p:cNvPicPr>
          <p:nvPr/>
        </p:nvPicPr>
        <p:blipFill>
          <a:blip r:embed="rId2"/>
          <a:stretch>
            <a:fillRect/>
          </a:stretch>
        </p:blipFill>
        <p:spPr>
          <a:xfrm>
            <a:off x="106532" y="1513732"/>
            <a:ext cx="8930936" cy="38305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6527"/>
            <a:ext cx="8229600" cy="582613"/>
          </a:xfrm>
        </p:spPr>
        <p:txBody>
          <a:bodyPr/>
          <a:lstStyle/>
          <a:p>
            <a:pPr algn="ctr"/>
            <a:r>
              <a:rPr lang="en-IN" altLang="en-US" b="1" dirty="0"/>
              <a:t>UML Diagrams</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9</a:t>
            </a:fld>
            <a:endParaRPr lang="en-US"/>
          </a:p>
        </p:txBody>
      </p:sp>
      <p:pic>
        <p:nvPicPr>
          <p:cNvPr id="12" name="Picture 11">
            <a:extLst>
              <a:ext uri="{FF2B5EF4-FFF2-40B4-BE49-F238E27FC236}">
                <a16:creationId xmlns:a16="http://schemas.microsoft.com/office/drawing/2014/main" id="{70A008D1-0DD9-FD2D-223A-C4F3759D6295}"/>
              </a:ext>
            </a:extLst>
          </p:cNvPr>
          <p:cNvPicPr>
            <a:picLocks noChangeAspect="1"/>
          </p:cNvPicPr>
          <p:nvPr/>
        </p:nvPicPr>
        <p:blipFill>
          <a:blip r:embed="rId2"/>
          <a:stretch>
            <a:fillRect/>
          </a:stretch>
        </p:blipFill>
        <p:spPr>
          <a:xfrm>
            <a:off x="1143667" y="901930"/>
            <a:ext cx="6856666" cy="5054140"/>
          </a:xfrm>
          <a:prstGeom prst="rect">
            <a:avLst/>
          </a:prstGeom>
        </p:spPr>
      </p:pic>
      <p:sp>
        <p:nvSpPr>
          <p:cNvPr id="5" name="Text Box 3">
            <a:extLst>
              <a:ext uri="{FF2B5EF4-FFF2-40B4-BE49-F238E27FC236}">
                <a16:creationId xmlns:a16="http://schemas.microsoft.com/office/drawing/2014/main" id="{52F0BA6D-5FC3-2D4F-2CA0-62CAD9A43FC4}"/>
              </a:ext>
            </a:extLst>
          </p:cNvPr>
          <p:cNvSpPr txBox="1"/>
          <p:nvPr/>
        </p:nvSpPr>
        <p:spPr>
          <a:xfrm>
            <a:off x="2840854" y="6014392"/>
            <a:ext cx="3462292" cy="461665"/>
          </a:xfrm>
          <a:prstGeom prst="rect">
            <a:avLst/>
          </a:prstGeom>
          <a:noFill/>
        </p:spPr>
        <p:txBody>
          <a:bodyPr wrap="square" rtlCol="0">
            <a:spAutoFit/>
          </a:bodyPr>
          <a:lstStyle/>
          <a:p>
            <a:pPr algn="ctr"/>
            <a:r>
              <a:rPr lang="en-US" altLang="en-US" sz="2400" dirty="0"/>
              <a:t>Activity Diagram</a:t>
            </a:r>
            <a:endParaRPr lang="en-IN"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10</a:t>
            </a:fld>
            <a:endParaRPr lang="en-US" dirty="0"/>
          </a:p>
        </p:txBody>
      </p:sp>
      <p:pic>
        <p:nvPicPr>
          <p:cNvPr id="9" name="Picture 8">
            <a:extLst>
              <a:ext uri="{FF2B5EF4-FFF2-40B4-BE49-F238E27FC236}">
                <a16:creationId xmlns:a16="http://schemas.microsoft.com/office/drawing/2014/main" id="{717448B6-1C3D-DADB-E9A8-52AF652B44FE}"/>
              </a:ext>
            </a:extLst>
          </p:cNvPr>
          <p:cNvPicPr>
            <a:picLocks noChangeAspect="1"/>
          </p:cNvPicPr>
          <p:nvPr/>
        </p:nvPicPr>
        <p:blipFill>
          <a:blip r:embed="rId2"/>
          <a:stretch>
            <a:fillRect/>
          </a:stretch>
        </p:blipFill>
        <p:spPr>
          <a:xfrm>
            <a:off x="841013" y="248291"/>
            <a:ext cx="7461973" cy="5557705"/>
          </a:xfrm>
          <a:prstGeom prst="rect">
            <a:avLst/>
          </a:prstGeom>
        </p:spPr>
      </p:pic>
      <p:sp>
        <p:nvSpPr>
          <p:cNvPr id="10" name="Text Box 3">
            <a:extLst>
              <a:ext uri="{FF2B5EF4-FFF2-40B4-BE49-F238E27FC236}">
                <a16:creationId xmlns:a16="http://schemas.microsoft.com/office/drawing/2014/main" id="{D0648AB8-A664-939A-FE31-FCE38A4CEC17}"/>
              </a:ext>
            </a:extLst>
          </p:cNvPr>
          <p:cNvSpPr txBox="1"/>
          <p:nvPr/>
        </p:nvSpPr>
        <p:spPr>
          <a:xfrm>
            <a:off x="2840853" y="5934492"/>
            <a:ext cx="3462292" cy="461665"/>
          </a:xfrm>
          <a:prstGeom prst="rect">
            <a:avLst/>
          </a:prstGeom>
          <a:noFill/>
        </p:spPr>
        <p:txBody>
          <a:bodyPr wrap="square" rtlCol="0">
            <a:spAutoFit/>
          </a:bodyPr>
          <a:lstStyle/>
          <a:p>
            <a:pPr algn="ctr"/>
            <a:r>
              <a:rPr lang="en-US" altLang="en-US" sz="2400" dirty="0"/>
              <a:t>Use Case Diagram</a:t>
            </a:r>
            <a:endParaRPr lang="en-IN"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t>Algorithms Used</a:t>
            </a:r>
          </a:p>
        </p:txBody>
      </p:sp>
      <p:sp>
        <p:nvSpPr>
          <p:cNvPr id="3" name="Content Placeholder 2"/>
          <p:cNvSpPr>
            <a:spLocks noGrp="1"/>
          </p:cNvSpPr>
          <p:nvPr>
            <p:ph idx="1"/>
          </p:nvPr>
        </p:nvSpPr>
        <p:spPr>
          <a:xfrm>
            <a:off x="457200" y="1174750"/>
            <a:ext cx="8229600" cy="5492750"/>
          </a:xfrm>
        </p:spPr>
        <p:txBody>
          <a:bodyPr/>
          <a:lstStyle/>
          <a:p>
            <a:pPr marL="0" indent="0">
              <a:buNone/>
            </a:pPr>
            <a:r>
              <a:rPr lang="en-US" altLang="en-US" sz="1900" b="1" dirty="0">
                <a:latin typeface="Tahoma" panose="020B0604030504040204" pitchFamily="34" charset="0"/>
                <a:ea typeface="Tahoma" panose="020B0604030504040204" pitchFamily="34" charset="0"/>
                <a:cs typeface="Tahoma" panose="020B0604030504040204" pitchFamily="34" charset="0"/>
              </a:rPr>
              <a:t>Support Vector Regression:</a:t>
            </a:r>
          </a:p>
          <a:p>
            <a:pPr marL="0" indent="0">
              <a:buNone/>
            </a:pPr>
            <a:r>
              <a:rPr lang="en-US" altLang="en-US" sz="1900" dirty="0">
                <a:latin typeface="Tahoma" panose="020B0604030504040204" pitchFamily="34" charset="0"/>
                <a:ea typeface="Tahoma" panose="020B0604030504040204" pitchFamily="34" charset="0"/>
                <a:cs typeface="Tahoma" panose="020B0604030504040204" pitchFamily="34" charset="0"/>
              </a:rPr>
              <a:t>SVMs or Support Vector Machines are one of the most popular and widely used algorithm for dealing with classification problems in machine learning. This algorithm acknowledges the presence of non-linearity in the data and provides a proficient prediction model. The SVM regression algorithm is referred to as Support Vector Regression or SVR. In machine learning, Support Vector Machines are supervised learning models with associated learning algorithms that analyze data used for classification and regression analysis. In Support Vector Regression, the straight line that is required to fit the data is referred to as hyperplane. The objective of a support vector machine algorithm is to find a hyperplane in an n-dimensional space that distinctly classifies the data points. The data points on either side of the hyperplane that are closest to the hyperplane are called Support Vectors. These influence the position and orientation of the hyperplane and thus help build the SVM.</a:t>
            </a:r>
          </a:p>
          <a:p>
            <a:pPr marL="0" indent="0">
              <a:buNone/>
            </a:pPr>
            <a:r>
              <a:rPr lang="en-US" altLang="en-US" sz="1900" dirty="0">
                <a:latin typeface="Tahoma" panose="020B0604030504040204" pitchFamily="34" charset="0"/>
                <a:ea typeface="Tahoma" panose="020B0604030504040204" pitchFamily="34" charset="0"/>
                <a:cs typeface="Tahoma" panose="020B0604030504040204" pitchFamily="34" charset="0"/>
              </a:rPr>
              <a:t>This algorithm allows scanning through multiple parameters and understand the nature of insurance premium depending on varied factors of cars and bikes.</a:t>
            </a:r>
            <a:endParaRPr lang="en-IN" altLang="en-US" sz="1900"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E0C6EF-5A7B-7E37-0C93-C372B20B217A}"/>
              </a:ext>
            </a:extLst>
          </p:cNvPr>
          <p:cNvSpPr>
            <a:spLocks noGrp="1"/>
          </p:cNvSpPr>
          <p:nvPr>
            <p:ph idx="1"/>
          </p:nvPr>
        </p:nvSpPr>
        <p:spPr>
          <a:xfrm>
            <a:off x="479394" y="674704"/>
            <a:ext cx="8336132" cy="5104660"/>
          </a:xfrm>
        </p:spPr>
        <p:txBody>
          <a:bodyPr/>
          <a:lstStyle/>
          <a:p>
            <a:pPr marL="0" indent="0">
              <a:buNone/>
            </a:pPr>
            <a:r>
              <a:rPr lang="en-US" sz="1900" b="1" dirty="0">
                <a:latin typeface="Tahoma" panose="020B0604030504040204" pitchFamily="34" charset="0"/>
                <a:ea typeface="Tahoma" panose="020B0604030504040204" pitchFamily="34" charset="0"/>
                <a:cs typeface="Tahoma" panose="020B0604030504040204" pitchFamily="34" charset="0"/>
              </a:rPr>
              <a:t>TFIDF and LSTM:</a:t>
            </a:r>
          </a:p>
          <a:p>
            <a:pPr marL="0" indent="0">
              <a:buNone/>
            </a:pPr>
            <a:r>
              <a:rPr lang="en-US" sz="1900" dirty="0">
                <a:latin typeface="Tahoma" panose="020B0604030504040204" pitchFamily="34" charset="0"/>
                <a:ea typeface="Tahoma" panose="020B0604030504040204" pitchFamily="34" charset="0"/>
                <a:cs typeface="Tahoma" panose="020B0604030504040204" pitchFamily="34" charset="0"/>
              </a:rPr>
              <a:t>These have been used in the NLP part of the application where an user can input his or her problem statement and the </a:t>
            </a:r>
            <a:r>
              <a:rPr lang="en-US" sz="1900" dirty="0" err="1">
                <a:latin typeface="Tahoma" panose="020B0604030504040204" pitchFamily="34" charset="0"/>
                <a:ea typeface="Tahoma" panose="020B0604030504040204" pitchFamily="34" charset="0"/>
                <a:cs typeface="Tahoma" panose="020B0604030504040204" pitchFamily="34" charset="0"/>
              </a:rPr>
              <a:t>autobot</a:t>
            </a:r>
            <a:r>
              <a:rPr lang="en-US" sz="1900" dirty="0">
                <a:latin typeface="Tahoma" panose="020B0604030504040204" pitchFamily="34" charset="0"/>
                <a:ea typeface="Tahoma" panose="020B0604030504040204" pitchFamily="34" charset="0"/>
                <a:cs typeface="Tahoma" panose="020B0604030504040204" pitchFamily="34" charset="0"/>
              </a:rPr>
              <a:t> will be replying in human understandable sentences and also suggest a best buy from the website.</a:t>
            </a:r>
          </a:p>
          <a:p>
            <a:pPr marL="0" indent="0">
              <a:buNone/>
            </a:pPr>
            <a:r>
              <a:rPr lang="en-US" sz="1900" dirty="0">
                <a:latin typeface="Tahoma" panose="020B0604030504040204" pitchFamily="34" charset="0"/>
                <a:ea typeface="Tahoma" panose="020B0604030504040204" pitchFamily="34" charset="0"/>
                <a:cs typeface="Tahoma" panose="020B0604030504040204" pitchFamily="34" charset="0"/>
              </a:rPr>
              <a:t>TFIDF stands for term frequency and inverse document frequency. This model finds out the most stressed words and the problem topic and helps to find a solution accordingly. LSTM stands for Long short term memory. LSTM model is used to find the </a:t>
            </a:r>
            <a:r>
              <a:rPr lang="en-US" sz="1900" dirty="0" err="1">
                <a:latin typeface="Tahoma" panose="020B0604030504040204" pitchFamily="34" charset="0"/>
                <a:ea typeface="Tahoma" panose="020B0604030504040204" pitchFamily="34" charset="0"/>
                <a:cs typeface="Tahoma" panose="020B0604030504040204" pitchFamily="34" charset="0"/>
              </a:rPr>
              <a:t>sequentiality</a:t>
            </a:r>
            <a:r>
              <a:rPr lang="en-US" sz="1900" dirty="0">
                <a:latin typeface="Tahoma" panose="020B0604030504040204" pitchFamily="34" charset="0"/>
                <a:ea typeface="Tahoma" panose="020B0604030504040204" pitchFamily="34" charset="0"/>
                <a:cs typeface="Tahoma" panose="020B0604030504040204" pitchFamily="34" charset="0"/>
              </a:rPr>
              <a:t> in the text. This means that in a sentence, the LSTM model will consider the words in continuation as a human reads a sentence and not pickup individual words and analyze the meaning. This is particularly helpful while answering the user in sentence and this can be very useful for unforeseen use cases as well.</a:t>
            </a:r>
          </a:p>
          <a:p>
            <a:pPr marL="0" indent="0">
              <a:buNone/>
            </a:pPr>
            <a:endParaRPr lang="en-US" sz="1900"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900" dirty="0">
                <a:latin typeface="Tahoma" panose="020B0604030504040204" pitchFamily="34" charset="0"/>
                <a:ea typeface="Tahoma" panose="020B0604030504040204" pitchFamily="34" charset="0"/>
                <a:cs typeface="Tahoma" panose="020B0604030504040204" pitchFamily="34" charset="0"/>
              </a:rPr>
              <a:t>The third part is a simple ecommerce website with admin panel facilities made using PHP and MySQL. The purpose of this is to sell the spare parts and also provide free replacement facilities for the customer.</a:t>
            </a:r>
            <a:endParaRPr lang="en-IN" sz="1900"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a:extLst>
              <a:ext uri="{FF2B5EF4-FFF2-40B4-BE49-F238E27FC236}">
                <a16:creationId xmlns:a16="http://schemas.microsoft.com/office/drawing/2014/main" id="{FC889F03-8347-0D60-9F1F-D03E889C33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3321798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endParaRPr lang="en-IN" altLang="en-US" sz="7000" dirty="0"/>
          </a:p>
          <a:p>
            <a:pPr marL="0" lvl="0" indent="0" algn="ctr" rtl="0">
              <a:spcBef>
                <a:spcPts val="0"/>
              </a:spcBef>
              <a:spcAft>
                <a:spcPts val="0"/>
              </a:spcAft>
              <a:buClr>
                <a:schemeClr val="dk1"/>
              </a:buClr>
              <a:buSzPts val="3200"/>
              <a:buNone/>
            </a:pPr>
            <a:r>
              <a:rPr lang="en-IN" altLang="en-US" sz="7000" dirty="0"/>
              <a:t>Thank You</a:t>
            </a:r>
            <a:endParaRPr sz="7000" dirty="0"/>
          </a:p>
        </p:txBody>
      </p:sp>
      <p:sp>
        <p:nvSpPr>
          <p:cNvPr id="110" name="Google Shape;110;p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TotalTime>
  <Words>1317</Words>
  <Application>Microsoft Office PowerPoint</Application>
  <PresentationFormat>On-screen Show (4:3)</PresentationFormat>
  <Paragraphs>89</Paragraphs>
  <Slides>13</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Tahoma</vt:lpstr>
      <vt:lpstr>Blue Waves</vt:lpstr>
      <vt:lpstr>Vehicle Health Analysis and Spare Parts E-Commerce</vt:lpstr>
      <vt:lpstr>Table of Contents</vt:lpstr>
      <vt:lpstr> Introduction</vt:lpstr>
      <vt:lpstr>PowerPoint Presentation</vt:lpstr>
      <vt:lpstr>PowerPoint Presentation</vt:lpstr>
      <vt:lpstr>PowerPoint Presentation</vt:lpstr>
      <vt:lpstr>PowerPoint Presentation</vt:lpstr>
      <vt:lpstr>Architecture Diagram</vt:lpstr>
      <vt:lpstr>UML Diagrams</vt:lpstr>
      <vt:lpstr>PowerPoint Presentation</vt:lpstr>
      <vt:lpstr>Algorithms Used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Yuvraj Singh</cp:lastModifiedBy>
  <cp:revision>42</cp:revision>
  <dcterms:created xsi:type="dcterms:W3CDTF">2020-05-13T07:00:00Z</dcterms:created>
  <dcterms:modified xsi:type="dcterms:W3CDTF">2022-10-12T17:36:11Z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37D99CB87CCD4DDDB3B67FDECD33C2FE</vt:lpwstr>
  </property>
  <property fmtid="{D5CDD505-2E9C-101B-9397-08002B2CF9AE}" pid="3" name="KSOProductBuildVer">
    <vt:lpwstr>1033-11.2.0.11341</vt:lpwstr>
  </property>
</Properties>
</file>