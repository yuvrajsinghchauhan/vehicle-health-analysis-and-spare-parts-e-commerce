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8" r:id="rId4"/>
    <p:sldId id="258" r:id="rId5"/>
    <p:sldId id="267" r:id="rId6"/>
    <p:sldId id="259" r:id="rId7"/>
    <p:sldId id="262" r:id="rId8"/>
    <p:sldId id="266" r:id="rId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8/11/2022</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2"/>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6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8/11/2022</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2"/>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8/11/2022</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2"/>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8/11/2022</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299949"/>
            <a:ext cx="9144000" cy="2558415"/>
          </a:xfrm>
          <a:custGeom>
            <a:avLst/>
            <a:gdLst/>
            <a:ahLst/>
            <a:cxnLst/>
            <a:rect l="l" t="t" r="r" b="b"/>
            <a:pathLst>
              <a:path w="9144000" h="2558415">
                <a:moveTo>
                  <a:pt x="0" y="2558049"/>
                </a:moveTo>
                <a:lnTo>
                  <a:pt x="9143999" y="2558049"/>
                </a:lnTo>
                <a:lnTo>
                  <a:pt x="9143999" y="0"/>
                </a:lnTo>
                <a:lnTo>
                  <a:pt x="0" y="0"/>
                </a:lnTo>
                <a:lnTo>
                  <a:pt x="0" y="2558049"/>
                </a:lnTo>
                <a:close/>
              </a:path>
            </a:pathLst>
          </a:custGeom>
          <a:solidFill>
            <a:srgbClr val="EEECE1"/>
          </a:solidFill>
        </p:spPr>
        <p:txBody>
          <a:bodyPr wrap="square" lIns="0" tIns="0" rIns="0" bIns="0" rtlCol="0"/>
          <a:lstStyle/>
          <a:p>
            <a:endParaRPr/>
          </a:p>
        </p:txBody>
      </p:sp>
      <p:sp>
        <p:nvSpPr>
          <p:cNvPr id="17" name="bg object 17"/>
          <p:cNvSpPr/>
          <p:nvPr/>
        </p:nvSpPr>
        <p:spPr>
          <a:xfrm>
            <a:off x="0" y="0"/>
            <a:ext cx="9144000" cy="2463165"/>
          </a:xfrm>
          <a:custGeom>
            <a:avLst/>
            <a:gdLst/>
            <a:ahLst/>
            <a:cxnLst/>
            <a:rect l="l" t="t" r="r" b="b"/>
            <a:pathLst>
              <a:path w="9144000" h="2463165">
                <a:moveTo>
                  <a:pt x="9143999" y="2462699"/>
                </a:moveTo>
                <a:lnTo>
                  <a:pt x="0" y="2462699"/>
                </a:lnTo>
                <a:lnTo>
                  <a:pt x="0" y="0"/>
                </a:lnTo>
                <a:lnTo>
                  <a:pt x="9143999" y="0"/>
                </a:lnTo>
                <a:lnTo>
                  <a:pt x="9143999" y="2462699"/>
                </a:lnTo>
                <a:close/>
              </a:path>
            </a:pathLst>
          </a:custGeom>
          <a:solidFill>
            <a:srgbClr val="1B4587"/>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8/11/2022</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3999" y="6857999"/>
                </a:moveTo>
                <a:lnTo>
                  <a:pt x="0" y="6857999"/>
                </a:lnTo>
                <a:lnTo>
                  <a:pt x="0" y="0"/>
                </a:lnTo>
                <a:lnTo>
                  <a:pt x="9143999" y="0"/>
                </a:lnTo>
                <a:lnTo>
                  <a:pt x="9143999" y="6857999"/>
                </a:lnTo>
                <a:close/>
              </a:path>
            </a:pathLst>
          </a:custGeom>
          <a:solidFill>
            <a:srgbClr val="EEECE1"/>
          </a:solidFill>
        </p:spPr>
        <p:txBody>
          <a:bodyPr wrap="square" lIns="0" tIns="0" rIns="0" bIns="0" rtlCol="0"/>
          <a:lstStyle/>
          <a:p>
            <a:endParaRPr/>
          </a:p>
        </p:txBody>
      </p:sp>
      <p:sp>
        <p:nvSpPr>
          <p:cNvPr id="2" name="Holder 2"/>
          <p:cNvSpPr>
            <a:spLocks noGrp="1"/>
          </p:cNvSpPr>
          <p:nvPr>
            <p:ph type="title"/>
          </p:nvPr>
        </p:nvSpPr>
        <p:spPr>
          <a:xfrm>
            <a:off x="2371856" y="475805"/>
            <a:ext cx="4400286" cy="695960"/>
          </a:xfrm>
          <a:prstGeom prst="rect">
            <a:avLst/>
          </a:prstGeom>
        </p:spPr>
        <p:txBody>
          <a:bodyPr wrap="square" lIns="0" tIns="0" rIns="0" bIns="0">
            <a:spAutoFit/>
          </a:bodyPr>
          <a:lstStyle>
            <a:lvl1pPr>
              <a:defRPr sz="4400" b="1" i="0">
                <a:solidFill>
                  <a:schemeClr val="tx2"/>
                </a:solidFill>
                <a:latin typeface="Calibri"/>
                <a:cs typeface="Calibri"/>
              </a:defRPr>
            </a:lvl1pPr>
          </a:lstStyle>
          <a:p>
            <a:endParaRPr/>
          </a:p>
        </p:txBody>
      </p:sp>
      <p:sp>
        <p:nvSpPr>
          <p:cNvPr id="3" name="Holder 3"/>
          <p:cNvSpPr>
            <a:spLocks noGrp="1"/>
          </p:cNvSpPr>
          <p:nvPr>
            <p:ph type="body" idx="1"/>
          </p:nvPr>
        </p:nvSpPr>
        <p:spPr>
          <a:xfrm>
            <a:off x="373054" y="1751199"/>
            <a:ext cx="8397890" cy="4798059"/>
          </a:xfrm>
          <a:prstGeom prst="rect">
            <a:avLst/>
          </a:prstGeom>
        </p:spPr>
        <p:txBody>
          <a:bodyPr wrap="square" lIns="0" tIns="0" rIns="0" bIns="0">
            <a:spAutoFit/>
          </a:bodyPr>
          <a:lstStyle>
            <a:lvl1pPr>
              <a:defRPr sz="16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8/11/2022</a:t>
            </a:fld>
            <a:endParaRPr lang="en-US"/>
          </a:p>
        </p:txBody>
      </p:sp>
      <p:sp>
        <p:nvSpPr>
          <p:cNvPr id="6" name="Holder 6"/>
          <p:cNvSpPr>
            <a:spLocks noGrp="1"/>
          </p:cNvSpPr>
          <p:nvPr>
            <p:ph type="sldNum" sz="quarter" idx="7"/>
          </p:nvPr>
        </p:nvSpPr>
        <p:spPr>
          <a:xfrm>
            <a:off x="8408491" y="6466763"/>
            <a:ext cx="231140"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91071" y="490601"/>
            <a:ext cx="5956935" cy="1640205"/>
          </a:xfrm>
          <a:prstGeom prst="rect">
            <a:avLst/>
          </a:prstGeom>
        </p:spPr>
        <p:txBody>
          <a:bodyPr vert="horz" wrap="square" lIns="0" tIns="12700" rIns="0" bIns="0" rtlCol="0">
            <a:spAutoFit/>
          </a:bodyPr>
          <a:lstStyle/>
          <a:p>
            <a:pPr marL="1706880" marR="425450" indent="-1123950">
              <a:lnSpc>
                <a:spcPct val="100000"/>
              </a:lnSpc>
              <a:spcBef>
                <a:spcPts val="100"/>
              </a:spcBef>
            </a:pPr>
            <a:r>
              <a:rPr sz="1800" b="1" spc="-5" dirty="0">
                <a:solidFill>
                  <a:srgbClr val="FFFFFF"/>
                </a:solidFill>
                <a:latin typeface="Cambria"/>
                <a:cs typeface="Cambria"/>
              </a:rPr>
              <a:t>SRM </a:t>
            </a:r>
            <a:r>
              <a:rPr sz="1800" b="1" spc="-10" dirty="0">
                <a:solidFill>
                  <a:srgbClr val="FFFFFF"/>
                </a:solidFill>
                <a:latin typeface="Cambria"/>
                <a:cs typeface="Cambria"/>
              </a:rPr>
              <a:t>INSTITUTE </a:t>
            </a:r>
            <a:r>
              <a:rPr sz="1800" b="1" spc="-5" dirty="0">
                <a:solidFill>
                  <a:srgbClr val="FFFFFF"/>
                </a:solidFill>
                <a:latin typeface="Cambria"/>
                <a:cs typeface="Cambria"/>
              </a:rPr>
              <a:t>OF SCIENCE AND </a:t>
            </a:r>
            <a:r>
              <a:rPr sz="1800" b="1" spc="-15" dirty="0">
                <a:solidFill>
                  <a:srgbClr val="FFFFFF"/>
                </a:solidFill>
                <a:latin typeface="Cambria"/>
                <a:cs typeface="Cambria"/>
              </a:rPr>
              <a:t>TECHNOLOGY </a:t>
            </a:r>
            <a:r>
              <a:rPr sz="1800" b="1" spc="-385" dirty="0">
                <a:solidFill>
                  <a:srgbClr val="FFFFFF"/>
                </a:solidFill>
                <a:latin typeface="Cambria"/>
                <a:cs typeface="Cambria"/>
              </a:rPr>
              <a:t> </a:t>
            </a:r>
            <a:r>
              <a:rPr sz="1800" b="1" spc="-5" dirty="0">
                <a:solidFill>
                  <a:srgbClr val="FFFFFF"/>
                </a:solidFill>
                <a:latin typeface="Cambria"/>
                <a:cs typeface="Cambria"/>
              </a:rPr>
              <a:t>SCHOOL</a:t>
            </a:r>
            <a:r>
              <a:rPr sz="1800" b="1" spc="-10" dirty="0">
                <a:solidFill>
                  <a:srgbClr val="FFFFFF"/>
                </a:solidFill>
                <a:latin typeface="Cambria"/>
                <a:cs typeface="Cambria"/>
              </a:rPr>
              <a:t> </a:t>
            </a:r>
            <a:r>
              <a:rPr sz="1800" b="1" spc="-5" dirty="0">
                <a:solidFill>
                  <a:srgbClr val="FFFFFF"/>
                </a:solidFill>
                <a:latin typeface="Cambria"/>
                <a:cs typeface="Cambria"/>
              </a:rPr>
              <a:t>OF </a:t>
            </a:r>
            <a:r>
              <a:rPr sz="1800" b="1" spc="-10" dirty="0">
                <a:solidFill>
                  <a:srgbClr val="FFFFFF"/>
                </a:solidFill>
                <a:latin typeface="Cambria"/>
                <a:cs typeface="Cambria"/>
              </a:rPr>
              <a:t>COMPUTING</a:t>
            </a:r>
            <a:endParaRPr sz="1800" dirty="0">
              <a:latin typeface="Cambria"/>
              <a:cs typeface="Cambria"/>
            </a:endParaRPr>
          </a:p>
          <a:p>
            <a:pPr marL="12700">
              <a:lnSpc>
                <a:spcPct val="100000"/>
              </a:lnSpc>
            </a:pPr>
            <a:r>
              <a:rPr sz="1800" b="1" spc="-5" dirty="0">
                <a:solidFill>
                  <a:srgbClr val="FFFFFF"/>
                </a:solidFill>
                <a:latin typeface="Cambria"/>
                <a:cs typeface="Cambria"/>
              </a:rPr>
              <a:t>DE</a:t>
            </a:r>
            <a:r>
              <a:rPr sz="1800" b="1" spc="-170" dirty="0">
                <a:solidFill>
                  <a:srgbClr val="FFFFFF"/>
                </a:solidFill>
                <a:latin typeface="Cambria"/>
                <a:cs typeface="Cambria"/>
              </a:rPr>
              <a:t>P</a:t>
            </a:r>
            <a:r>
              <a:rPr sz="1800" b="1" spc="-5" dirty="0">
                <a:solidFill>
                  <a:srgbClr val="FFFFFF"/>
                </a:solidFill>
                <a:latin typeface="Cambria"/>
                <a:cs typeface="Cambria"/>
              </a:rPr>
              <a:t>A</a:t>
            </a:r>
            <a:r>
              <a:rPr sz="1800" b="1" spc="-80" dirty="0">
                <a:solidFill>
                  <a:srgbClr val="FFFFFF"/>
                </a:solidFill>
                <a:latin typeface="Cambria"/>
                <a:cs typeface="Cambria"/>
              </a:rPr>
              <a:t>R</a:t>
            </a:r>
            <a:r>
              <a:rPr sz="1800" b="1" spc="-5" dirty="0">
                <a:solidFill>
                  <a:srgbClr val="FFFFFF"/>
                </a:solidFill>
                <a:latin typeface="Cambria"/>
                <a:cs typeface="Cambria"/>
              </a:rPr>
              <a:t>TMEN</a:t>
            </a:r>
            <a:r>
              <a:rPr sz="1800" b="1" dirty="0">
                <a:solidFill>
                  <a:srgbClr val="FFFFFF"/>
                </a:solidFill>
                <a:latin typeface="Cambria"/>
                <a:cs typeface="Cambria"/>
              </a:rPr>
              <a:t>T</a:t>
            </a:r>
            <a:r>
              <a:rPr sz="1800" b="1" spc="-5" dirty="0">
                <a:solidFill>
                  <a:srgbClr val="FFFFFF"/>
                </a:solidFill>
                <a:latin typeface="Cambria"/>
                <a:cs typeface="Cambria"/>
              </a:rPr>
              <a:t> O</a:t>
            </a:r>
            <a:r>
              <a:rPr sz="1800" b="1" dirty="0">
                <a:solidFill>
                  <a:srgbClr val="FFFFFF"/>
                </a:solidFill>
                <a:latin typeface="Cambria"/>
                <a:cs typeface="Cambria"/>
              </a:rPr>
              <a:t>F</a:t>
            </a:r>
            <a:r>
              <a:rPr sz="1800" b="1" spc="-5" dirty="0">
                <a:solidFill>
                  <a:srgbClr val="FFFFFF"/>
                </a:solidFill>
                <a:latin typeface="Cambria"/>
                <a:cs typeface="Cambria"/>
              </a:rPr>
              <a:t> </a:t>
            </a:r>
            <a:r>
              <a:rPr sz="1800" b="1" spc="-70" dirty="0">
                <a:solidFill>
                  <a:srgbClr val="FFFFFF"/>
                </a:solidFill>
                <a:latin typeface="Cambria"/>
                <a:cs typeface="Cambria"/>
              </a:rPr>
              <a:t>D</a:t>
            </a:r>
            <a:r>
              <a:rPr sz="1800" b="1" spc="-150" dirty="0">
                <a:solidFill>
                  <a:srgbClr val="FFFFFF"/>
                </a:solidFill>
                <a:latin typeface="Cambria"/>
                <a:cs typeface="Cambria"/>
              </a:rPr>
              <a:t>A</a:t>
            </a:r>
            <a:r>
              <a:rPr sz="1800" b="1" spc="-204" dirty="0">
                <a:solidFill>
                  <a:srgbClr val="FFFFFF"/>
                </a:solidFill>
                <a:latin typeface="Cambria"/>
                <a:cs typeface="Cambria"/>
              </a:rPr>
              <a:t>T</a:t>
            </a:r>
            <a:r>
              <a:rPr sz="1800" b="1" dirty="0">
                <a:solidFill>
                  <a:srgbClr val="FFFFFF"/>
                </a:solidFill>
                <a:latin typeface="Cambria"/>
                <a:cs typeface="Cambria"/>
              </a:rPr>
              <a:t>A</a:t>
            </a:r>
            <a:r>
              <a:rPr sz="1800" b="1" spc="-5" dirty="0">
                <a:solidFill>
                  <a:srgbClr val="FFFFFF"/>
                </a:solidFill>
                <a:latin typeface="Cambria"/>
                <a:cs typeface="Cambria"/>
              </a:rPr>
              <a:t> SCIENC</a:t>
            </a:r>
            <a:r>
              <a:rPr sz="1800" b="1" dirty="0">
                <a:solidFill>
                  <a:srgbClr val="FFFFFF"/>
                </a:solidFill>
                <a:latin typeface="Cambria"/>
                <a:cs typeface="Cambria"/>
              </a:rPr>
              <a:t>E</a:t>
            </a:r>
            <a:r>
              <a:rPr sz="1800" b="1" spc="-5" dirty="0">
                <a:solidFill>
                  <a:srgbClr val="FFFFFF"/>
                </a:solidFill>
                <a:latin typeface="Cambria"/>
                <a:cs typeface="Cambria"/>
              </a:rPr>
              <a:t> AN</a:t>
            </a:r>
            <a:r>
              <a:rPr sz="1800" b="1" dirty="0">
                <a:solidFill>
                  <a:srgbClr val="FFFFFF"/>
                </a:solidFill>
                <a:latin typeface="Cambria"/>
                <a:cs typeface="Cambria"/>
              </a:rPr>
              <a:t>D</a:t>
            </a:r>
            <a:r>
              <a:rPr sz="1800" b="1" spc="-5" dirty="0">
                <a:solidFill>
                  <a:srgbClr val="FFFFFF"/>
                </a:solidFill>
                <a:latin typeface="Cambria"/>
                <a:cs typeface="Cambria"/>
              </a:rPr>
              <a:t> BUSINES</a:t>
            </a:r>
            <a:r>
              <a:rPr sz="1800" b="1" dirty="0">
                <a:solidFill>
                  <a:srgbClr val="FFFFFF"/>
                </a:solidFill>
                <a:latin typeface="Cambria"/>
                <a:cs typeface="Cambria"/>
              </a:rPr>
              <a:t>S</a:t>
            </a:r>
            <a:r>
              <a:rPr sz="1800" b="1" spc="-5" dirty="0">
                <a:solidFill>
                  <a:srgbClr val="FFFFFF"/>
                </a:solidFill>
                <a:latin typeface="Cambria"/>
                <a:cs typeface="Cambria"/>
              </a:rPr>
              <a:t> </a:t>
            </a:r>
            <a:r>
              <a:rPr sz="1800" b="1" spc="-15" dirty="0">
                <a:solidFill>
                  <a:srgbClr val="FFFFFF"/>
                </a:solidFill>
                <a:latin typeface="Cambria"/>
                <a:cs typeface="Cambria"/>
              </a:rPr>
              <a:t>S</a:t>
            </a:r>
            <a:r>
              <a:rPr sz="1800" b="1" spc="-30" dirty="0">
                <a:solidFill>
                  <a:srgbClr val="FFFFFF"/>
                </a:solidFill>
                <a:latin typeface="Cambria"/>
                <a:cs typeface="Cambria"/>
              </a:rPr>
              <a:t>Y</a:t>
            </a:r>
            <a:r>
              <a:rPr sz="1800" b="1" spc="-25" dirty="0">
                <a:solidFill>
                  <a:srgbClr val="FFFFFF"/>
                </a:solidFill>
                <a:latin typeface="Cambria"/>
                <a:cs typeface="Cambria"/>
              </a:rPr>
              <a:t>S</a:t>
            </a:r>
            <a:r>
              <a:rPr sz="1800" b="1" spc="-5" dirty="0">
                <a:solidFill>
                  <a:srgbClr val="FFFFFF"/>
                </a:solidFill>
                <a:latin typeface="Cambria"/>
                <a:cs typeface="Cambria"/>
              </a:rPr>
              <a:t>TEMS</a:t>
            </a:r>
            <a:endParaRPr sz="1800" dirty="0">
              <a:latin typeface="Cambria"/>
              <a:cs typeface="Cambria"/>
            </a:endParaRPr>
          </a:p>
          <a:p>
            <a:pPr>
              <a:lnSpc>
                <a:spcPct val="100000"/>
              </a:lnSpc>
            </a:pPr>
            <a:endParaRPr sz="1800" dirty="0">
              <a:latin typeface="Cambria"/>
              <a:cs typeface="Cambria"/>
            </a:endParaRPr>
          </a:p>
          <a:p>
            <a:pPr>
              <a:lnSpc>
                <a:spcPct val="100000"/>
              </a:lnSpc>
              <a:spcBef>
                <a:spcPts val="20"/>
              </a:spcBef>
            </a:pPr>
            <a:endParaRPr sz="1450" dirty="0">
              <a:latin typeface="Cambria"/>
              <a:cs typeface="Cambria"/>
            </a:endParaRPr>
          </a:p>
          <a:p>
            <a:pPr marL="4445" algn="ctr">
              <a:lnSpc>
                <a:spcPct val="100000"/>
              </a:lnSpc>
            </a:pPr>
            <a:r>
              <a:rPr sz="2000" b="1" spc="-10" dirty="0">
                <a:solidFill>
                  <a:srgbClr val="FFFFFF"/>
                </a:solidFill>
                <a:latin typeface="Cambria"/>
                <a:cs typeface="Cambria"/>
              </a:rPr>
              <a:t>18CSP107L-</a:t>
            </a:r>
            <a:r>
              <a:rPr sz="2000" b="1" spc="-20" dirty="0">
                <a:solidFill>
                  <a:srgbClr val="FFFFFF"/>
                </a:solidFill>
                <a:latin typeface="Cambria"/>
                <a:cs typeface="Cambria"/>
              </a:rPr>
              <a:t> </a:t>
            </a:r>
            <a:r>
              <a:rPr sz="2000" b="1" spc="-5" dirty="0">
                <a:solidFill>
                  <a:srgbClr val="FFFFFF"/>
                </a:solidFill>
                <a:latin typeface="Cambria"/>
                <a:cs typeface="Cambria"/>
              </a:rPr>
              <a:t>MINOR</a:t>
            </a:r>
            <a:r>
              <a:rPr sz="2000" b="1" spc="-15" dirty="0">
                <a:solidFill>
                  <a:srgbClr val="FFFFFF"/>
                </a:solidFill>
                <a:latin typeface="Cambria"/>
                <a:cs typeface="Cambria"/>
              </a:rPr>
              <a:t> PROJECT</a:t>
            </a:r>
            <a:endParaRPr sz="2000" dirty="0">
              <a:latin typeface="Cambria"/>
              <a:cs typeface="Cambria"/>
            </a:endParaRPr>
          </a:p>
        </p:txBody>
      </p:sp>
      <p:grpSp>
        <p:nvGrpSpPr>
          <p:cNvPr id="3" name="object 3"/>
          <p:cNvGrpSpPr/>
          <p:nvPr/>
        </p:nvGrpSpPr>
        <p:grpSpPr>
          <a:xfrm>
            <a:off x="0" y="248750"/>
            <a:ext cx="9144000" cy="4051300"/>
            <a:chOff x="0" y="248750"/>
            <a:chExt cx="9144000" cy="4051300"/>
          </a:xfrm>
        </p:grpSpPr>
        <p:pic>
          <p:nvPicPr>
            <p:cNvPr id="4" name="object 4"/>
            <p:cNvPicPr/>
            <p:nvPr/>
          </p:nvPicPr>
          <p:blipFill>
            <a:blip r:embed="rId2" cstate="print"/>
            <a:stretch>
              <a:fillRect/>
            </a:stretch>
          </p:blipFill>
          <p:spPr>
            <a:xfrm>
              <a:off x="7534923" y="248750"/>
              <a:ext cx="1609076" cy="1583649"/>
            </a:xfrm>
            <a:prstGeom prst="rect">
              <a:avLst/>
            </a:prstGeom>
          </p:spPr>
        </p:pic>
        <p:pic>
          <p:nvPicPr>
            <p:cNvPr id="5" name="object 5"/>
            <p:cNvPicPr/>
            <p:nvPr/>
          </p:nvPicPr>
          <p:blipFill>
            <a:blip r:embed="rId3" cstate="print"/>
            <a:stretch>
              <a:fillRect/>
            </a:stretch>
          </p:blipFill>
          <p:spPr>
            <a:xfrm>
              <a:off x="136850" y="357575"/>
              <a:ext cx="1398624" cy="1398624"/>
            </a:xfrm>
            <a:prstGeom prst="rect">
              <a:avLst/>
            </a:prstGeom>
          </p:spPr>
        </p:pic>
        <p:sp>
          <p:nvSpPr>
            <p:cNvPr id="6" name="object 6"/>
            <p:cNvSpPr/>
            <p:nvPr/>
          </p:nvSpPr>
          <p:spPr>
            <a:xfrm>
              <a:off x="0" y="2406650"/>
              <a:ext cx="9144000" cy="1893570"/>
            </a:xfrm>
            <a:custGeom>
              <a:avLst/>
              <a:gdLst/>
              <a:ahLst/>
              <a:cxnLst/>
              <a:rect l="l" t="t" r="r" b="b"/>
              <a:pathLst>
                <a:path w="9144000" h="1893570">
                  <a:moveTo>
                    <a:pt x="9143999" y="1893299"/>
                  </a:moveTo>
                  <a:lnTo>
                    <a:pt x="0" y="1893299"/>
                  </a:lnTo>
                  <a:lnTo>
                    <a:pt x="0" y="0"/>
                  </a:lnTo>
                  <a:lnTo>
                    <a:pt x="9143999" y="0"/>
                  </a:lnTo>
                  <a:lnTo>
                    <a:pt x="9143999" y="1893299"/>
                  </a:lnTo>
                  <a:close/>
                </a:path>
              </a:pathLst>
            </a:custGeom>
            <a:solidFill>
              <a:srgbClr val="1B4587"/>
            </a:solidFill>
          </p:spPr>
          <p:txBody>
            <a:bodyPr wrap="square" lIns="0" tIns="0" rIns="0" bIns="0" rtlCol="0"/>
            <a:lstStyle/>
            <a:p>
              <a:endParaRPr/>
            </a:p>
          </p:txBody>
        </p:sp>
      </p:grpSp>
      <p:sp>
        <p:nvSpPr>
          <p:cNvPr id="7" name="object 7"/>
          <p:cNvSpPr txBox="1"/>
          <p:nvPr/>
        </p:nvSpPr>
        <p:spPr>
          <a:xfrm>
            <a:off x="73025" y="2460879"/>
            <a:ext cx="8541385" cy="4465325"/>
          </a:xfrm>
          <a:prstGeom prst="rect">
            <a:avLst/>
          </a:prstGeom>
        </p:spPr>
        <p:txBody>
          <a:bodyPr vert="horz" wrap="square" lIns="0" tIns="12700" rIns="0" bIns="0" rtlCol="0">
            <a:spAutoFit/>
          </a:bodyPr>
          <a:lstStyle/>
          <a:p>
            <a:pPr marL="12700" marR="283845" algn="ctr">
              <a:lnSpc>
                <a:spcPct val="100000"/>
              </a:lnSpc>
              <a:spcBef>
                <a:spcPts val="100"/>
              </a:spcBef>
            </a:pPr>
            <a:r>
              <a:rPr lang="en-US" sz="3700" b="1" spc="40" dirty="0">
                <a:solidFill>
                  <a:srgbClr val="42FFB7"/>
                </a:solidFill>
                <a:latin typeface="Tahoma"/>
                <a:cs typeface="Tahoma"/>
              </a:rPr>
              <a:t>VEHICLE HEALTH ANALYSIS AND SPARE PARTS E-COMMERCE</a:t>
            </a:r>
          </a:p>
          <a:p>
            <a:pPr marL="12700" marR="283845">
              <a:lnSpc>
                <a:spcPct val="100000"/>
              </a:lnSpc>
              <a:spcBef>
                <a:spcPts val="100"/>
              </a:spcBef>
            </a:pPr>
            <a:endParaRPr lang="en-US" sz="3700" b="1" spc="40" dirty="0">
              <a:solidFill>
                <a:srgbClr val="42FFB7"/>
              </a:solidFill>
              <a:latin typeface="Tahoma"/>
              <a:cs typeface="Tahoma"/>
            </a:endParaRPr>
          </a:p>
          <a:p>
            <a:pPr marL="12700" marR="283845">
              <a:lnSpc>
                <a:spcPct val="100000"/>
              </a:lnSpc>
              <a:spcBef>
                <a:spcPts val="100"/>
              </a:spcBef>
            </a:pPr>
            <a:endParaRPr sz="800" dirty="0">
              <a:latin typeface="Tahoma"/>
              <a:cs typeface="Tahoma"/>
            </a:endParaRPr>
          </a:p>
          <a:p>
            <a:pPr marL="339090" algn="ctr">
              <a:lnSpc>
                <a:spcPts val="3525"/>
              </a:lnSpc>
            </a:pPr>
            <a:r>
              <a:rPr lang="en-US" sz="3300" b="1" spc="-5" dirty="0">
                <a:latin typeface="Calibri"/>
                <a:cs typeface="Calibri"/>
              </a:rPr>
              <a:t>Yuvraj Singh Chauhan</a:t>
            </a:r>
            <a:r>
              <a:rPr sz="3200" b="1" dirty="0">
                <a:solidFill>
                  <a:srgbClr val="434343"/>
                </a:solidFill>
                <a:latin typeface="Calibri"/>
                <a:cs typeface="Calibri"/>
              </a:rPr>
              <a:t>-</a:t>
            </a:r>
            <a:r>
              <a:rPr sz="3200" b="1" spc="-15" dirty="0">
                <a:solidFill>
                  <a:srgbClr val="434343"/>
                </a:solidFill>
                <a:latin typeface="Calibri"/>
                <a:cs typeface="Calibri"/>
              </a:rPr>
              <a:t> </a:t>
            </a:r>
            <a:r>
              <a:rPr sz="3200" b="1" spc="-5" dirty="0">
                <a:latin typeface="Calibri"/>
                <a:cs typeface="Calibri"/>
              </a:rPr>
              <a:t>RA19110270100</a:t>
            </a:r>
            <a:r>
              <a:rPr lang="en-US" sz="3200" b="1" spc="-5" dirty="0">
                <a:latin typeface="Calibri"/>
                <a:cs typeface="Calibri"/>
              </a:rPr>
              <a:t>58</a:t>
            </a:r>
            <a:endParaRPr sz="3200" dirty="0">
              <a:latin typeface="Calibri"/>
              <a:cs typeface="Calibri"/>
            </a:endParaRPr>
          </a:p>
          <a:p>
            <a:pPr marL="339090" algn="ctr">
              <a:lnSpc>
                <a:spcPct val="100000"/>
              </a:lnSpc>
              <a:spcBef>
                <a:spcPts val="610"/>
              </a:spcBef>
            </a:pPr>
            <a:r>
              <a:rPr lang="en-US" sz="3300" b="1" spc="-15" dirty="0" err="1">
                <a:latin typeface="Calibri"/>
                <a:cs typeface="Calibri"/>
              </a:rPr>
              <a:t>Avinash</a:t>
            </a:r>
            <a:r>
              <a:rPr lang="en-US" sz="3300" b="1" spc="-15" dirty="0">
                <a:latin typeface="Calibri"/>
                <a:cs typeface="Calibri"/>
              </a:rPr>
              <a:t> Reddy </a:t>
            </a:r>
            <a:r>
              <a:rPr lang="en-US" sz="3300" b="1" spc="-15" dirty="0" err="1">
                <a:latin typeface="Calibri"/>
                <a:cs typeface="Calibri"/>
              </a:rPr>
              <a:t>Vasipalli</a:t>
            </a:r>
            <a:r>
              <a:rPr sz="3200" b="1" dirty="0">
                <a:solidFill>
                  <a:srgbClr val="434343"/>
                </a:solidFill>
                <a:latin typeface="Calibri"/>
                <a:cs typeface="Calibri"/>
              </a:rPr>
              <a:t>-</a:t>
            </a:r>
            <a:r>
              <a:rPr sz="3200" b="1" spc="-20" dirty="0">
                <a:solidFill>
                  <a:srgbClr val="434343"/>
                </a:solidFill>
                <a:latin typeface="Calibri"/>
                <a:cs typeface="Calibri"/>
              </a:rPr>
              <a:t> </a:t>
            </a:r>
            <a:r>
              <a:rPr sz="3200" b="1" spc="-5" dirty="0">
                <a:latin typeface="Calibri"/>
                <a:cs typeface="Calibri"/>
              </a:rPr>
              <a:t>RA191102701000</a:t>
            </a:r>
            <a:r>
              <a:rPr lang="en-US" sz="3200" b="1" spc="-5" dirty="0">
                <a:latin typeface="Calibri"/>
                <a:cs typeface="Calibri"/>
              </a:rPr>
              <a:t>7</a:t>
            </a:r>
            <a:endParaRPr sz="3200" dirty="0">
              <a:latin typeface="Calibri"/>
              <a:cs typeface="Calibri"/>
            </a:endParaRPr>
          </a:p>
          <a:p>
            <a:pPr marL="342265" algn="ctr">
              <a:lnSpc>
                <a:spcPct val="100000"/>
              </a:lnSpc>
              <a:spcBef>
                <a:spcPts val="600"/>
              </a:spcBef>
            </a:pPr>
            <a:r>
              <a:rPr sz="3200" b="1" spc="-5" dirty="0">
                <a:solidFill>
                  <a:srgbClr val="434343"/>
                </a:solidFill>
                <a:latin typeface="Calibri"/>
                <a:cs typeface="Calibri"/>
              </a:rPr>
              <a:t>Guide:</a:t>
            </a:r>
            <a:r>
              <a:rPr sz="3200" b="1" spc="-25" dirty="0">
                <a:solidFill>
                  <a:srgbClr val="434343"/>
                </a:solidFill>
                <a:latin typeface="Calibri"/>
                <a:cs typeface="Calibri"/>
              </a:rPr>
              <a:t> </a:t>
            </a:r>
            <a:r>
              <a:rPr sz="3200" b="1" spc="-95" dirty="0">
                <a:latin typeface="Calibri"/>
                <a:cs typeface="Calibri"/>
              </a:rPr>
              <a:t>Dr.</a:t>
            </a:r>
            <a:r>
              <a:rPr sz="3200" b="1" spc="-25" dirty="0">
                <a:latin typeface="Calibri"/>
                <a:cs typeface="Calibri"/>
              </a:rPr>
              <a:t> </a:t>
            </a:r>
            <a:r>
              <a:rPr lang="en-US" sz="3200" b="1" spc="-5" dirty="0">
                <a:latin typeface="Calibri"/>
                <a:cs typeface="Calibri"/>
              </a:rPr>
              <a:t>T. Karthick</a:t>
            </a:r>
            <a:endParaRPr sz="3200" dirty="0">
              <a:latin typeface="Calibri"/>
              <a:cs typeface="Calibri"/>
            </a:endParaRPr>
          </a:p>
          <a:p>
            <a:pPr marL="535940" marR="5080" algn="ctr">
              <a:lnSpc>
                <a:spcPct val="100400"/>
              </a:lnSpc>
              <a:spcBef>
                <a:spcPts val="580"/>
              </a:spcBef>
            </a:pPr>
            <a:r>
              <a:rPr sz="3200" b="1" spc="-10" dirty="0">
                <a:solidFill>
                  <a:srgbClr val="434343"/>
                </a:solidFill>
                <a:latin typeface="Calibri"/>
                <a:cs typeface="Calibri"/>
              </a:rPr>
              <a:t>Designation:</a:t>
            </a:r>
            <a:r>
              <a:rPr sz="3200" b="1" spc="15" dirty="0">
                <a:solidFill>
                  <a:srgbClr val="434343"/>
                </a:solidFill>
                <a:latin typeface="Calibri"/>
                <a:cs typeface="Calibri"/>
              </a:rPr>
              <a:t> </a:t>
            </a:r>
            <a:r>
              <a:rPr sz="2750" b="1" spc="-15" dirty="0">
                <a:latin typeface="Calibri"/>
                <a:cs typeface="Calibri"/>
              </a:rPr>
              <a:t>Assistant</a:t>
            </a:r>
            <a:r>
              <a:rPr sz="2750" b="1" spc="-10" dirty="0">
                <a:latin typeface="Calibri"/>
                <a:cs typeface="Calibri"/>
              </a:rPr>
              <a:t> </a:t>
            </a:r>
            <a:r>
              <a:rPr sz="2750" b="1" spc="-35" dirty="0">
                <a:latin typeface="Calibri"/>
                <a:cs typeface="Calibri"/>
              </a:rPr>
              <a:t>Professor,</a:t>
            </a:r>
            <a:r>
              <a:rPr sz="2750" b="1" spc="-15" dirty="0">
                <a:latin typeface="Calibri"/>
                <a:cs typeface="Calibri"/>
              </a:rPr>
              <a:t> </a:t>
            </a:r>
            <a:r>
              <a:rPr sz="2750" b="1" spc="-10" dirty="0">
                <a:latin typeface="Calibri"/>
                <a:cs typeface="Calibri"/>
              </a:rPr>
              <a:t>Department </a:t>
            </a:r>
            <a:r>
              <a:rPr sz="2750" b="1" spc="-5" dirty="0">
                <a:latin typeface="Calibri"/>
                <a:cs typeface="Calibri"/>
              </a:rPr>
              <a:t>of</a:t>
            </a:r>
            <a:r>
              <a:rPr sz="2750" b="1" spc="-10" dirty="0">
                <a:latin typeface="Calibri"/>
                <a:cs typeface="Calibri"/>
              </a:rPr>
              <a:t> </a:t>
            </a:r>
            <a:r>
              <a:rPr sz="2750" b="1" spc="-20" dirty="0">
                <a:latin typeface="Calibri"/>
                <a:cs typeface="Calibri"/>
              </a:rPr>
              <a:t>Data </a:t>
            </a:r>
            <a:r>
              <a:rPr sz="2750" b="1" spc="-605" dirty="0">
                <a:latin typeface="Calibri"/>
                <a:cs typeface="Calibri"/>
              </a:rPr>
              <a:t> </a:t>
            </a:r>
            <a:r>
              <a:rPr sz="2750" b="1" spc="-10" dirty="0">
                <a:latin typeface="Calibri"/>
                <a:cs typeface="Calibri"/>
              </a:rPr>
              <a:t>Science and</a:t>
            </a:r>
            <a:r>
              <a:rPr sz="2750" b="1" spc="-5" dirty="0">
                <a:latin typeface="Calibri"/>
                <a:cs typeface="Calibri"/>
              </a:rPr>
              <a:t> </a:t>
            </a:r>
            <a:r>
              <a:rPr sz="2750" b="1" spc="-10" dirty="0">
                <a:latin typeface="Calibri"/>
                <a:cs typeface="Calibri"/>
              </a:rPr>
              <a:t>Business</a:t>
            </a:r>
            <a:r>
              <a:rPr sz="2750" b="1" spc="-5" dirty="0">
                <a:latin typeface="Calibri"/>
                <a:cs typeface="Calibri"/>
              </a:rPr>
              <a:t> </a:t>
            </a:r>
            <a:r>
              <a:rPr sz="2750" b="1" spc="-25" dirty="0">
                <a:latin typeface="Calibri"/>
                <a:cs typeface="Calibri"/>
              </a:rPr>
              <a:t>Systems</a:t>
            </a:r>
            <a:endParaRPr sz="275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6804" y="475805"/>
            <a:ext cx="4852035" cy="695960"/>
          </a:xfrm>
          <a:prstGeom prst="rect">
            <a:avLst/>
          </a:prstGeom>
        </p:spPr>
        <p:txBody>
          <a:bodyPr vert="horz" wrap="square" lIns="0" tIns="12700" rIns="0" bIns="0" rtlCol="0">
            <a:spAutoFit/>
          </a:bodyPr>
          <a:lstStyle/>
          <a:p>
            <a:pPr marL="12700">
              <a:lnSpc>
                <a:spcPct val="100000"/>
              </a:lnSpc>
              <a:spcBef>
                <a:spcPts val="100"/>
              </a:spcBef>
            </a:pPr>
            <a:r>
              <a:rPr spc="-30" dirty="0">
                <a:solidFill>
                  <a:srgbClr val="1B4587"/>
                </a:solidFill>
                <a:latin typeface="Tahoma"/>
                <a:cs typeface="Tahoma"/>
              </a:rPr>
              <a:t>Table</a:t>
            </a:r>
            <a:r>
              <a:rPr spc="-190" dirty="0">
                <a:solidFill>
                  <a:srgbClr val="1B4587"/>
                </a:solidFill>
                <a:latin typeface="Tahoma"/>
                <a:cs typeface="Tahoma"/>
              </a:rPr>
              <a:t> </a:t>
            </a:r>
            <a:r>
              <a:rPr spc="10" dirty="0">
                <a:solidFill>
                  <a:srgbClr val="1B4587"/>
                </a:solidFill>
                <a:latin typeface="Tahoma"/>
                <a:cs typeface="Tahoma"/>
              </a:rPr>
              <a:t>of</a:t>
            </a:r>
            <a:r>
              <a:rPr spc="-185" dirty="0">
                <a:solidFill>
                  <a:srgbClr val="1B4587"/>
                </a:solidFill>
                <a:latin typeface="Tahoma"/>
                <a:cs typeface="Tahoma"/>
              </a:rPr>
              <a:t> </a:t>
            </a:r>
            <a:r>
              <a:rPr spc="15" dirty="0">
                <a:solidFill>
                  <a:srgbClr val="1B4587"/>
                </a:solidFill>
                <a:latin typeface="Tahoma"/>
                <a:cs typeface="Tahoma"/>
              </a:rPr>
              <a:t>contents</a:t>
            </a:r>
          </a:p>
        </p:txBody>
      </p:sp>
      <p:sp>
        <p:nvSpPr>
          <p:cNvPr id="3" name="object 3"/>
          <p:cNvSpPr txBox="1"/>
          <p:nvPr/>
        </p:nvSpPr>
        <p:spPr>
          <a:xfrm>
            <a:off x="931862" y="1976678"/>
            <a:ext cx="5553710" cy="2498120"/>
          </a:xfrm>
          <a:prstGeom prst="rect">
            <a:avLst/>
          </a:prstGeom>
        </p:spPr>
        <p:txBody>
          <a:bodyPr vert="horz" wrap="square" lIns="0" tIns="218440" rIns="0" bIns="0" rtlCol="0">
            <a:spAutoFit/>
          </a:bodyPr>
          <a:lstStyle/>
          <a:p>
            <a:pPr marL="448309" indent="-436245">
              <a:lnSpc>
                <a:spcPct val="100000"/>
              </a:lnSpc>
              <a:spcBef>
                <a:spcPts val="1720"/>
              </a:spcBef>
              <a:buFont typeface="Arial"/>
              <a:buChar char="●"/>
              <a:tabLst>
                <a:tab pos="448309" algn="l"/>
                <a:tab pos="448945" algn="l"/>
              </a:tabLst>
            </a:pPr>
            <a:r>
              <a:rPr lang="en-US" sz="2700" b="1" spc="-20" dirty="0">
                <a:latin typeface="Tahoma"/>
                <a:cs typeface="Tahoma"/>
              </a:rPr>
              <a:t>Abstract</a:t>
            </a:r>
            <a:endParaRPr sz="2700" dirty="0">
              <a:latin typeface="Tahoma"/>
              <a:cs typeface="Tahoma"/>
            </a:endParaRPr>
          </a:p>
          <a:p>
            <a:pPr marL="448309" indent="-436245">
              <a:lnSpc>
                <a:spcPct val="100000"/>
              </a:lnSpc>
              <a:spcBef>
                <a:spcPts val="1620"/>
              </a:spcBef>
              <a:buFont typeface="Arial"/>
              <a:buChar char="●"/>
              <a:tabLst>
                <a:tab pos="448309" algn="l"/>
                <a:tab pos="448945" algn="l"/>
              </a:tabLst>
            </a:pPr>
            <a:r>
              <a:rPr lang="en-US" sz="2700" b="1" spc="20" dirty="0">
                <a:latin typeface="Tahoma"/>
                <a:cs typeface="Tahoma"/>
              </a:rPr>
              <a:t>Introduction</a:t>
            </a:r>
            <a:endParaRPr sz="2700" dirty="0">
              <a:latin typeface="Tahoma"/>
              <a:cs typeface="Tahoma"/>
            </a:endParaRPr>
          </a:p>
          <a:p>
            <a:pPr marL="448309" indent="-436245">
              <a:lnSpc>
                <a:spcPct val="100000"/>
              </a:lnSpc>
              <a:spcBef>
                <a:spcPts val="1620"/>
              </a:spcBef>
              <a:buFont typeface="Arial"/>
              <a:buChar char="●"/>
              <a:tabLst>
                <a:tab pos="448309" algn="l"/>
                <a:tab pos="448945" algn="l"/>
              </a:tabLst>
            </a:pPr>
            <a:r>
              <a:rPr lang="en-US" sz="2700" b="1" spc="-30" dirty="0">
                <a:latin typeface="Tahoma"/>
                <a:cs typeface="Tahoma"/>
              </a:rPr>
              <a:t>Existing System</a:t>
            </a:r>
            <a:endParaRPr sz="2700" dirty="0">
              <a:latin typeface="Tahoma"/>
              <a:cs typeface="Tahoma"/>
            </a:endParaRPr>
          </a:p>
          <a:p>
            <a:pPr marL="448309" indent="-436245">
              <a:lnSpc>
                <a:spcPct val="100000"/>
              </a:lnSpc>
              <a:spcBef>
                <a:spcPts val="1620"/>
              </a:spcBef>
              <a:buFont typeface="Arial"/>
              <a:buChar char="●"/>
              <a:tabLst>
                <a:tab pos="448309" algn="l"/>
                <a:tab pos="448945" algn="l"/>
              </a:tabLst>
            </a:pPr>
            <a:r>
              <a:rPr lang="en-US" sz="2700" b="1" spc="-10" dirty="0">
                <a:latin typeface="Tahoma"/>
                <a:cs typeface="Tahoma"/>
              </a:rPr>
              <a:t>Proposed System</a:t>
            </a:r>
            <a:endParaRPr sz="2700" dirty="0">
              <a:latin typeface="Tahoma"/>
              <a:cs typeface="Tahoma"/>
            </a:endParaRPr>
          </a:p>
        </p:txBody>
      </p:sp>
      <p:pic>
        <p:nvPicPr>
          <p:cNvPr id="4" name="object 4"/>
          <p:cNvPicPr/>
          <p:nvPr/>
        </p:nvPicPr>
        <p:blipFill>
          <a:blip r:embed="rId2" cstate="print"/>
          <a:stretch>
            <a:fillRect/>
          </a:stretch>
        </p:blipFill>
        <p:spPr>
          <a:xfrm>
            <a:off x="116537" y="124473"/>
            <a:ext cx="1398624" cy="1398624"/>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a:t>
            </a:fld>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3A551-CBCD-C333-1F3D-929290EFCE18}"/>
              </a:ext>
            </a:extLst>
          </p:cNvPr>
          <p:cNvSpPr>
            <a:spLocks noGrp="1"/>
          </p:cNvSpPr>
          <p:nvPr>
            <p:ph type="title"/>
          </p:nvPr>
        </p:nvSpPr>
        <p:spPr>
          <a:xfrm>
            <a:off x="3355213" y="457200"/>
            <a:ext cx="2433571" cy="715468"/>
          </a:xfrm>
        </p:spPr>
        <p:txBody>
          <a:bodyPr/>
          <a:lstStyle/>
          <a:p>
            <a:r>
              <a:rPr lang="en-US" dirty="0">
                <a:latin typeface="Tahoma" panose="020B0604030504040204" pitchFamily="34" charset="0"/>
                <a:ea typeface="Tahoma" panose="020B0604030504040204" pitchFamily="34" charset="0"/>
                <a:cs typeface="Tahoma" panose="020B0604030504040204" pitchFamily="34" charset="0"/>
              </a:rPr>
              <a:t>Abstract</a:t>
            </a:r>
            <a:endParaRPr lang="en-IN" dirty="0">
              <a:latin typeface="Tahoma" panose="020B0604030504040204" pitchFamily="34" charset="0"/>
              <a:ea typeface="Tahoma" panose="020B0604030504040204" pitchFamily="34" charset="0"/>
              <a:cs typeface="Tahoma" panose="020B0604030504040204" pitchFamily="34" charset="0"/>
            </a:endParaRPr>
          </a:p>
        </p:txBody>
      </p:sp>
      <p:sp>
        <p:nvSpPr>
          <p:cNvPr id="3" name="Text Placeholder 2">
            <a:extLst>
              <a:ext uri="{FF2B5EF4-FFF2-40B4-BE49-F238E27FC236}">
                <a16:creationId xmlns:a16="http://schemas.microsoft.com/office/drawing/2014/main" id="{F045C1BB-7FB4-6D4B-7419-CF5DA507C050}"/>
              </a:ext>
            </a:extLst>
          </p:cNvPr>
          <p:cNvSpPr>
            <a:spLocks noGrp="1"/>
          </p:cNvSpPr>
          <p:nvPr>
            <p:ph type="body" idx="1"/>
          </p:nvPr>
        </p:nvSpPr>
        <p:spPr>
          <a:xfrm>
            <a:off x="373054" y="1752600"/>
            <a:ext cx="8397890" cy="4847481"/>
          </a:xfrm>
        </p:spPr>
        <p:txBody>
          <a:bodyPr/>
          <a:lstStyle/>
          <a:p>
            <a:pPr marL="285750" indent="-285750">
              <a:buFont typeface="Arial" panose="020B0604020202020204" pitchFamily="34" charset="0"/>
              <a:buChar char="•"/>
            </a:pPr>
            <a:r>
              <a:rPr lang="en-US" sz="1750" b="1" dirty="0">
                <a:latin typeface="Tahoma" panose="020B0604030504040204" pitchFamily="34" charset="0"/>
                <a:ea typeface="Tahoma" panose="020B0604030504040204" pitchFamily="34" charset="0"/>
                <a:cs typeface="Tahoma" panose="020B0604030504040204" pitchFamily="34" charset="0"/>
              </a:rPr>
              <a:t>In many automobile industries, predictive maintenance has become more important. It is hard to diagnose failure in advance in the vehicle industry because of the limited availability of sensors and some of the designing exertions. However, it looks feasible today to analyze sensor’s data along with machine learning techniques for failure prediction.</a:t>
            </a:r>
          </a:p>
          <a:p>
            <a:pPr marL="285750" indent="-285750">
              <a:buFont typeface="Arial" panose="020B0604020202020204" pitchFamily="34" charset="0"/>
              <a:buChar char="•"/>
            </a:pPr>
            <a:r>
              <a:rPr lang="en-US" sz="1750" b="1" dirty="0">
                <a:latin typeface="Tahoma" panose="020B0604030504040204" pitchFamily="34" charset="0"/>
                <a:ea typeface="Tahoma" panose="020B0604030504040204" pitchFamily="34" charset="0"/>
                <a:cs typeface="Tahoma" panose="020B0604030504040204" pitchFamily="34" charset="0"/>
              </a:rPr>
              <a:t>the main objective is to determine the optimal allocation of spares for replacement of defective parts at a minimal total cost as possible by formulating a solution for the problems and providing the best solution that could rectify the problem.</a:t>
            </a:r>
          </a:p>
          <a:p>
            <a:pPr marL="285750" indent="-285750">
              <a:buFont typeface="Arial" panose="020B0604020202020204" pitchFamily="34" charset="0"/>
              <a:buChar char="•"/>
            </a:pPr>
            <a:r>
              <a:rPr lang="en-US" sz="1750" b="1" dirty="0">
                <a:latin typeface="Tahoma" panose="020B0604030504040204" pitchFamily="34" charset="0"/>
                <a:ea typeface="Tahoma" panose="020B0604030504040204" pitchFamily="34" charset="0"/>
                <a:cs typeface="Tahoma" panose="020B0604030504040204" pitchFamily="34" charset="0"/>
              </a:rPr>
              <a:t>Vehicle Health Analysis and spare parts E- commerce application aims to analyze the informations to estimate the total maintenance cost and insurance amount.</a:t>
            </a:r>
          </a:p>
          <a:p>
            <a:pPr marL="285750" indent="-285750">
              <a:buFont typeface="Arial" panose="020B0604020202020204" pitchFamily="34" charset="0"/>
              <a:buChar char="•"/>
            </a:pPr>
            <a:r>
              <a:rPr lang="en-US" sz="1750" b="1" dirty="0">
                <a:latin typeface="Tahoma" panose="020B0604030504040204" pitchFamily="34" charset="0"/>
                <a:ea typeface="Tahoma" panose="020B0604030504040204" pitchFamily="34" charset="0"/>
                <a:cs typeface="Tahoma" panose="020B0604030504040204" pitchFamily="34" charset="0"/>
              </a:rPr>
              <a:t>The system also suggests the insurance sum that could be received for the unforeseen circumstances such as bumper damage, engine hold etc.</a:t>
            </a:r>
          </a:p>
          <a:p>
            <a:pPr marL="285750" indent="-285750">
              <a:buFont typeface="Arial" panose="020B0604020202020204" pitchFamily="34" charset="0"/>
              <a:buChar char="•"/>
            </a:pPr>
            <a:r>
              <a:rPr lang="en-US" sz="1750" b="1" dirty="0">
                <a:latin typeface="Tahoma" panose="020B0604030504040204" pitchFamily="34" charset="0"/>
                <a:ea typeface="Tahoma" panose="020B0604030504040204" pitchFamily="34" charset="0"/>
                <a:cs typeface="Tahoma" panose="020B0604030504040204" pitchFamily="34" charset="0"/>
              </a:rPr>
              <a:t>The system is also expected to provide the e commerce support where in, if the issue is with carbonator then it provide the best available online - with the model in mind - carbonators that will solve it problem using NLP.</a:t>
            </a:r>
          </a:p>
        </p:txBody>
      </p:sp>
      <p:pic>
        <p:nvPicPr>
          <p:cNvPr id="4" name="object 4">
            <a:extLst>
              <a:ext uri="{FF2B5EF4-FFF2-40B4-BE49-F238E27FC236}">
                <a16:creationId xmlns:a16="http://schemas.microsoft.com/office/drawing/2014/main" id="{2DCFC5C6-C7E1-41C2-279F-C92CDBA123C6}"/>
              </a:ext>
            </a:extLst>
          </p:cNvPr>
          <p:cNvPicPr/>
          <p:nvPr/>
        </p:nvPicPr>
        <p:blipFill>
          <a:blip r:embed="rId2" cstate="print"/>
          <a:stretch>
            <a:fillRect/>
          </a:stretch>
        </p:blipFill>
        <p:spPr>
          <a:xfrm>
            <a:off x="76200" y="115622"/>
            <a:ext cx="1398624" cy="1398624"/>
          </a:xfrm>
          <a:prstGeom prst="rect">
            <a:avLst/>
          </a:prstGeom>
        </p:spPr>
      </p:pic>
    </p:spTree>
    <p:extLst>
      <p:ext uri="{BB962C8B-B14F-4D97-AF65-F5344CB8AC3E}">
        <p14:creationId xmlns:p14="http://schemas.microsoft.com/office/powerpoint/2010/main" val="3816297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18146" y="475805"/>
            <a:ext cx="3554095" cy="695960"/>
          </a:xfrm>
          <a:prstGeom prst="rect">
            <a:avLst/>
          </a:prstGeom>
        </p:spPr>
        <p:txBody>
          <a:bodyPr vert="horz" wrap="square" lIns="0" tIns="12700" rIns="0" bIns="0" rtlCol="0">
            <a:spAutoFit/>
          </a:bodyPr>
          <a:lstStyle/>
          <a:p>
            <a:pPr marL="12700">
              <a:lnSpc>
                <a:spcPct val="100000"/>
              </a:lnSpc>
              <a:spcBef>
                <a:spcPts val="100"/>
              </a:spcBef>
            </a:pPr>
            <a:r>
              <a:rPr spc="-25" dirty="0">
                <a:solidFill>
                  <a:srgbClr val="1B4587"/>
                </a:solidFill>
                <a:latin typeface="Tahoma"/>
                <a:cs typeface="Tahoma"/>
              </a:rPr>
              <a:t>Introduction</a:t>
            </a:r>
          </a:p>
        </p:txBody>
      </p:sp>
      <p:sp>
        <p:nvSpPr>
          <p:cNvPr id="3" name="object 3"/>
          <p:cNvSpPr txBox="1"/>
          <p:nvPr/>
        </p:nvSpPr>
        <p:spPr>
          <a:xfrm>
            <a:off x="399737" y="1693257"/>
            <a:ext cx="8590915" cy="4315669"/>
          </a:xfrm>
          <a:prstGeom prst="rect">
            <a:avLst/>
          </a:prstGeom>
        </p:spPr>
        <p:txBody>
          <a:bodyPr vert="horz" wrap="square" lIns="0" tIns="12700" rIns="0" bIns="0" rtlCol="0">
            <a:spAutoFit/>
          </a:bodyPr>
          <a:lstStyle/>
          <a:p>
            <a:pPr marL="297815" indent="-285750">
              <a:lnSpc>
                <a:spcPct val="100000"/>
              </a:lnSpc>
              <a:spcBef>
                <a:spcPts val="100"/>
              </a:spcBef>
              <a:buFont typeface="Arial" panose="020B0604020202020204" pitchFamily="34" charset="0"/>
              <a:buChar char="•"/>
              <a:tabLst>
                <a:tab pos="401955" algn="l"/>
                <a:tab pos="402590" algn="l"/>
              </a:tabLst>
            </a:pPr>
            <a:r>
              <a:rPr lang="en-US" sz="1750" b="1" dirty="0">
                <a:latin typeface="Tahoma" panose="020B0604030504040204" pitchFamily="34" charset="0"/>
                <a:ea typeface="Tahoma" panose="020B0604030504040204" pitchFamily="34" charset="0"/>
                <a:cs typeface="Tahoma" panose="020B0604030504040204" pitchFamily="34" charset="0"/>
              </a:rPr>
              <a:t>The global e-commerce automotive aftermarket size was valued at USD 53.78 billion in 2020 and is expected to expand at a compound annual growth rate (CAGR) of 14.6 % from 2021 to 2028.</a:t>
            </a:r>
            <a:endParaRPr sz="1750" b="1" dirty="0">
              <a:latin typeface="Tahoma" panose="020B0604030504040204" pitchFamily="34" charset="0"/>
              <a:ea typeface="Tahoma" panose="020B0604030504040204" pitchFamily="34" charset="0"/>
              <a:cs typeface="Tahoma" panose="020B0604030504040204" pitchFamily="34" charset="0"/>
            </a:endParaRPr>
          </a:p>
          <a:p>
            <a:pPr marL="297815" marR="813435" indent="-285750">
              <a:lnSpc>
                <a:spcPct val="114999"/>
              </a:lnSpc>
              <a:buFont typeface="Arial" panose="020B0604020202020204" pitchFamily="34" charset="0"/>
              <a:buChar char="•"/>
              <a:tabLst>
                <a:tab pos="401955" algn="l"/>
                <a:tab pos="402590" algn="l"/>
              </a:tabLst>
            </a:pPr>
            <a:r>
              <a:rPr lang="en-US" sz="1750" b="1" dirty="0">
                <a:latin typeface="Tahoma" panose="020B0604030504040204" pitchFamily="34" charset="0"/>
                <a:ea typeface="Tahoma" panose="020B0604030504040204" pitchFamily="34" charset="0"/>
                <a:cs typeface="Tahoma" panose="020B0604030504040204" pitchFamily="34" charset="0"/>
              </a:rPr>
              <a:t>The rising need for people and independent retailers to access more affordable automotive parts for sale in the aftermarket offers an impetus to the market.</a:t>
            </a:r>
            <a:endParaRPr sz="1750" b="1" dirty="0">
              <a:latin typeface="Tahoma" panose="020B0604030504040204" pitchFamily="34" charset="0"/>
              <a:ea typeface="Tahoma" panose="020B0604030504040204" pitchFamily="34" charset="0"/>
              <a:cs typeface="Tahoma" panose="020B0604030504040204" pitchFamily="34" charset="0"/>
            </a:endParaRPr>
          </a:p>
          <a:p>
            <a:pPr marL="297815" marR="5080" indent="-285750">
              <a:lnSpc>
                <a:spcPct val="114999"/>
              </a:lnSpc>
              <a:buFont typeface="Arial" panose="020B0604020202020204" pitchFamily="34" charset="0"/>
              <a:buChar char="•"/>
              <a:tabLst>
                <a:tab pos="401955" algn="l"/>
                <a:tab pos="402590" algn="l"/>
              </a:tabLst>
            </a:pPr>
            <a:r>
              <a:rPr lang="en-US" sz="175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Vehicle systems are complex both in hardware and software so their maintenance is challenging.</a:t>
            </a:r>
          </a:p>
          <a:p>
            <a:pPr marL="297815" marR="5080" indent="-285750">
              <a:lnSpc>
                <a:spcPct val="114999"/>
              </a:lnSpc>
              <a:buFont typeface="Arial" panose="020B0604020202020204" pitchFamily="34" charset="0"/>
              <a:buChar char="•"/>
              <a:tabLst>
                <a:tab pos="401955" algn="l"/>
                <a:tab pos="402590" algn="l"/>
              </a:tabLst>
            </a:pPr>
            <a:r>
              <a:rPr lang="en-US" sz="175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Maintenance strategy being used in vehicle industry is normally reactive that results in reduction of lifetime of vehicle and also loss of money, thus predictive maintenance is required on this stage to overcome these issues.</a:t>
            </a:r>
          </a:p>
          <a:p>
            <a:pPr marL="297815" marR="5080" indent="-285750">
              <a:lnSpc>
                <a:spcPct val="114999"/>
              </a:lnSpc>
              <a:buFont typeface="Arial" panose="020B0604020202020204" pitchFamily="34" charset="0"/>
              <a:buChar char="•"/>
              <a:tabLst>
                <a:tab pos="401955" algn="l"/>
                <a:tab pos="402590" algn="l"/>
              </a:tabLst>
            </a:pPr>
            <a:r>
              <a:rPr lang="en-US" sz="1750" b="1" dirty="0">
                <a:latin typeface="Tahoma" panose="020B0604030504040204" pitchFamily="34" charset="0"/>
                <a:ea typeface="Tahoma" panose="020B0604030504040204" pitchFamily="34" charset="0"/>
                <a:cs typeface="Tahoma" panose="020B0604030504040204" pitchFamily="34" charset="0"/>
              </a:rPr>
              <a:t>This ongoing trend of pure-play retailers deploying e-commerce strategies is projected to fuel the growth of the market.</a:t>
            </a:r>
          </a:p>
        </p:txBody>
      </p:sp>
      <p:pic>
        <p:nvPicPr>
          <p:cNvPr id="4" name="object 4"/>
          <p:cNvPicPr/>
          <p:nvPr/>
        </p:nvPicPr>
        <p:blipFill>
          <a:blip r:embed="rId2" cstate="print"/>
          <a:stretch>
            <a:fillRect/>
          </a:stretch>
        </p:blipFill>
        <p:spPr>
          <a:xfrm>
            <a:off x="26276" y="124473"/>
            <a:ext cx="1383074" cy="1398624"/>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a:t>
            </a:fld>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U.S. e-commerce automotive aftermarket size, by replacement parts, 2017 - 2028 (USD Billion)">
            <a:extLst>
              <a:ext uri="{FF2B5EF4-FFF2-40B4-BE49-F238E27FC236}">
                <a16:creationId xmlns:a16="http://schemas.microsoft.com/office/drawing/2014/main" id="{E5BA0DD3-148D-E4B7-C9F5-003AA36542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 y="2057400"/>
            <a:ext cx="8972550" cy="4486275"/>
          </a:xfrm>
          <a:prstGeom prst="rect">
            <a:avLst/>
          </a:prstGeom>
          <a:noFill/>
          <a:extLst>
            <a:ext uri="{909E8E84-426E-40DD-AFC4-6F175D3DCCD1}">
              <a14:hiddenFill xmlns:a14="http://schemas.microsoft.com/office/drawing/2010/main">
                <a:solidFill>
                  <a:srgbClr val="FFFFFF"/>
                </a:solidFill>
              </a14:hiddenFill>
            </a:ext>
          </a:extLst>
        </p:spPr>
      </p:pic>
      <p:pic>
        <p:nvPicPr>
          <p:cNvPr id="4" name="object 4">
            <a:extLst>
              <a:ext uri="{FF2B5EF4-FFF2-40B4-BE49-F238E27FC236}">
                <a16:creationId xmlns:a16="http://schemas.microsoft.com/office/drawing/2014/main" id="{DF2A869A-1E56-E644-00DD-FF0EB275F056}"/>
              </a:ext>
            </a:extLst>
          </p:cNvPr>
          <p:cNvPicPr/>
          <p:nvPr/>
        </p:nvPicPr>
        <p:blipFill>
          <a:blip r:embed="rId3" cstate="print"/>
          <a:stretch>
            <a:fillRect/>
          </a:stretch>
        </p:blipFill>
        <p:spPr>
          <a:xfrm>
            <a:off x="26276" y="124473"/>
            <a:ext cx="1383074" cy="1398624"/>
          </a:xfrm>
          <a:prstGeom prst="rect">
            <a:avLst/>
          </a:prstGeom>
        </p:spPr>
      </p:pic>
    </p:spTree>
    <p:extLst>
      <p:ext uri="{BB962C8B-B14F-4D97-AF65-F5344CB8AC3E}">
        <p14:creationId xmlns:p14="http://schemas.microsoft.com/office/powerpoint/2010/main" val="1113560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3184" y="494846"/>
            <a:ext cx="4876800" cy="689932"/>
          </a:xfrm>
          <a:prstGeom prst="rect">
            <a:avLst/>
          </a:prstGeom>
        </p:spPr>
        <p:txBody>
          <a:bodyPr vert="horz" wrap="square" lIns="0" tIns="12700" rIns="0" bIns="0" rtlCol="0">
            <a:spAutoFit/>
          </a:bodyPr>
          <a:lstStyle/>
          <a:p>
            <a:pPr marL="12700" algn="l">
              <a:lnSpc>
                <a:spcPct val="100000"/>
              </a:lnSpc>
              <a:spcBef>
                <a:spcPts val="100"/>
              </a:spcBef>
            </a:pPr>
            <a:r>
              <a:rPr lang="en-US" spc="40" dirty="0">
                <a:solidFill>
                  <a:srgbClr val="1B4587"/>
                </a:solidFill>
                <a:latin typeface="Tahoma"/>
                <a:cs typeface="Tahoma"/>
              </a:rPr>
              <a:t>Existing Systems</a:t>
            </a:r>
            <a:endParaRPr spc="40" dirty="0">
              <a:solidFill>
                <a:srgbClr val="1B4587"/>
              </a:solidFill>
              <a:latin typeface="Tahoma"/>
              <a:cs typeface="Tahoma"/>
            </a:endParaRPr>
          </a:p>
        </p:txBody>
      </p:sp>
      <p:sp>
        <p:nvSpPr>
          <p:cNvPr id="3" name="object 3"/>
          <p:cNvSpPr txBox="1"/>
          <p:nvPr/>
        </p:nvSpPr>
        <p:spPr>
          <a:xfrm>
            <a:off x="229552" y="1888035"/>
            <a:ext cx="8684895" cy="4667945"/>
          </a:xfrm>
          <a:prstGeom prst="rect">
            <a:avLst/>
          </a:prstGeom>
        </p:spPr>
        <p:txBody>
          <a:bodyPr vert="horz" wrap="square" lIns="0" tIns="12700" rIns="0" bIns="0" rtlCol="0">
            <a:spAutoFit/>
          </a:bodyPr>
          <a:lstStyle/>
          <a:p>
            <a:pPr marL="297815" indent="-285750">
              <a:lnSpc>
                <a:spcPct val="100000"/>
              </a:lnSpc>
              <a:spcBef>
                <a:spcPts val="100"/>
              </a:spcBef>
              <a:buFont typeface="Arial" panose="020B0604020202020204" pitchFamily="34" charset="0"/>
              <a:buChar char="•"/>
              <a:tabLst>
                <a:tab pos="401955" algn="l"/>
                <a:tab pos="402590" algn="l"/>
              </a:tabLst>
            </a:pPr>
            <a:r>
              <a:rPr lang="en-US" sz="1750" b="1" dirty="0">
                <a:latin typeface="Tahoma"/>
                <a:cs typeface="Tahoma"/>
              </a:rPr>
              <a:t>Historically, technicians were called in order to assess the problems which the car has and they would suggest the estimated cost for fixing the issue as well.</a:t>
            </a:r>
          </a:p>
          <a:p>
            <a:pPr marL="297815" indent="-285750">
              <a:lnSpc>
                <a:spcPct val="100000"/>
              </a:lnSpc>
              <a:spcBef>
                <a:spcPts val="100"/>
              </a:spcBef>
              <a:buFont typeface="Arial" panose="020B0604020202020204" pitchFamily="34" charset="0"/>
              <a:buChar char="•"/>
              <a:tabLst>
                <a:tab pos="401955" algn="l"/>
                <a:tab pos="402590" algn="l"/>
              </a:tabLst>
            </a:pPr>
            <a:r>
              <a:rPr lang="en-US" sz="1750" b="1" dirty="0">
                <a:latin typeface="Tahoma"/>
                <a:cs typeface="Tahoma"/>
              </a:rPr>
              <a:t>In that system the chances of scamming the customers, not properly fixing the fault, not paying the insurance money to the customer due to lack of evidence and asking money way too much than the actual amount was common.</a:t>
            </a:r>
          </a:p>
          <a:p>
            <a:pPr marL="297815" indent="-285750">
              <a:lnSpc>
                <a:spcPct val="100000"/>
              </a:lnSpc>
              <a:spcBef>
                <a:spcPts val="100"/>
              </a:spcBef>
              <a:buFont typeface="Arial" panose="020B0604020202020204" pitchFamily="34" charset="0"/>
              <a:buChar char="•"/>
              <a:tabLst>
                <a:tab pos="401955" algn="l"/>
                <a:tab pos="402590" algn="l"/>
              </a:tabLst>
            </a:pPr>
            <a:r>
              <a:rPr lang="en-US" sz="1750" b="1" dirty="0">
                <a:latin typeface="Tahoma"/>
                <a:cs typeface="Tahoma"/>
              </a:rPr>
              <a:t>E-vehicle health monitoring and commerce systems were thus introduced to combat this problem from the market and provide a fair assessment for the problem at the best cost.</a:t>
            </a:r>
          </a:p>
          <a:p>
            <a:pPr marL="297815" indent="-285750">
              <a:lnSpc>
                <a:spcPct val="100000"/>
              </a:lnSpc>
              <a:spcBef>
                <a:spcPts val="100"/>
              </a:spcBef>
              <a:buFont typeface="Arial" panose="020B0604020202020204" pitchFamily="34" charset="0"/>
              <a:buChar char="•"/>
              <a:tabLst>
                <a:tab pos="401955" algn="l"/>
                <a:tab pos="402590" algn="l"/>
              </a:tabLst>
            </a:pPr>
            <a:r>
              <a:rPr lang="en-US" sz="1750" b="1" dirty="0">
                <a:latin typeface="Tahoma"/>
                <a:cs typeface="Tahoma"/>
              </a:rPr>
              <a:t>The current vehicle health monitoring systems uses ML algorithms to determine the condition of the vehicle and provide diagnosis for the same.</a:t>
            </a:r>
          </a:p>
          <a:p>
            <a:pPr marL="297815" indent="-285750">
              <a:lnSpc>
                <a:spcPct val="100000"/>
              </a:lnSpc>
              <a:spcBef>
                <a:spcPts val="100"/>
              </a:spcBef>
              <a:buFont typeface="Arial" panose="020B0604020202020204" pitchFamily="34" charset="0"/>
              <a:buChar char="•"/>
              <a:tabLst>
                <a:tab pos="401955" algn="l"/>
                <a:tab pos="402590" algn="l"/>
              </a:tabLst>
            </a:pPr>
            <a:r>
              <a:rPr lang="en-US" sz="1750" b="1" dirty="0">
                <a:latin typeface="Tahoma"/>
                <a:cs typeface="Tahoma"/>
              </a:rPr>
              <a:t>The replacement for the faulty parts is provided by the system at a minimum cost which is then installed by the technician.</a:t>
            </a:r>
          </a:p>
          <a:p>
            <a:pPr marL="297815" indent="-285750">
              <a:lnSpc>
                <a:spcPct val="100000"/>
              </a:lnSpc>
              <a:spcBef>
                <a:spcPts val="100"/>
              </a:spcBef>
              <a:buFont typeface="Arial" panose="020B0604020202020204" pitchFamily="34" charset="0"/>
              <a:buChar char="•"/>
              <a:tabLst>
                <a:tab pos="401955" algn="l"/>
                <a:tab pos="402590" algn="l"/>
              </a:tabLst>
            </a:pPr>
            <a:r>
              <a:rPr lang="en-US" sz="1750" b="1" dirty="0">
                <a:latin typeface="Tahoma"/>
                <a:cs typeface="Tahoma"/>
              </a:rPr>
              <a:t>If however the fault is there due to some unforeseen circumstances, diagnosis is done and the insurance money is paid to the customer.</a:t>
            </a:r>
          </a:p>
          <a:p>
            <a:pPr marL="354965" indent="-342900">
              <a:lnSpc>
                <a:spcPct val="100000"/>
              </a:lnSpc>
              <a:spcBef>
                <a:spcPts val="100"/>
              </a:spcBef>
              <a:buFont typeface="Arial" panose="020B0604020202020204" pitchFamily="34" charset="0"/>
              <a:buChar char="•"/>
              <a:tabLst>
                <a:tab pos="401955" algn="l"/>
                <a:tab pos="402590" algn="l"/>
              </a:tabLst>
            </a:pPr>
            <a:endParaRPr sz="1750" b="1" dirty="0">
              <a:latin typeface="Tahoma"/>
              <a:cs typeface="Tahoma"/>
            </a:endParaRPr>
          </a:p>
        </p:txBody>
      </p:sp>
      <p:pic>
        <p:nvPicPr>
          <p:cNvPr id="4" name="object 4"/>
          <p:cNvPicPr/>
          <p:nvPr/>
        </p:nvPicPr>
        <p:blipFill>
          <a:blip r:embed="rId2" cstate="print"/>
          <a:stretch>
            <a:fillRect/>
          </a:stretch>
        </p:blipFill>
        <p:spPr>
          <a:xfrm>
            <a:off x="76200" y="140500"/>
            <a:ext cx="1398624" cy="1398624"/>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6</a:t>
            </a:fld>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08505" y="390754"/>
            <a:ext cx="5126990" cy="695960"/>
          </a:xfrm>
          <a:prstGeom prst="rect">
            <a:avLst/>
          </a:prstGeom>
        </p:spPr>
        <p:txBody>
          <a:bodyPr vert="horz" wrap="square" lIns="0" tIns="12700" rIns="0" bIns="0" rtlCol="0">
            <a:spAutoFit/>
          </a:bodyPr>
          <a:lstStyle/>
          <a:p>
            <a:pPr marL="12700">
              <a:lnSpc>
                <a:spcPct val="100000"/>
              </a:lnSpc>
              <a:spcBef>
                <a:spcPts val="100"/>
              </a:spcBef>
            </a:pPr>
            <a:r>
              <a:rPr lang="en-US" spc="-15" dirty="0">
                <a:latin typeface="Tahoma"/>
                <a:cs typeface="Tahoma"/>
              </a:rPr>
              <a:t>Proposed Systems</a:t>
            </a:r>
            <a:endParaRPr spc="-45" dirty="0">
              <a:latin typeface="Tahoma"/>
              <a:cs typeface="Tahoma"/>
            </a:endParaRPr>
          </a:p>
        </p:txBody>
      </p:sp>
      <p:sp>
        <p:nvSpPr>
          <p:cNvPr id="3" name="object 3"/>
          <p:cNvSpPr txBox="1"/>
          <p:nvPr/>
        </p:nvSpPr>
        <p:spPr>
          <a:xfrm>
            <a:off x="96458" y="1438046"/>
            <a:ext cx="8905875" cy="5209375"/>
          </a:xfrm>
          <a:prstGeom prst="rect">
            <a:avLst/>
          </a:prstGeom>
        </p:spPr>
        <p:txBody>
          <a:bodyPr vert="horz" wrap="square" lIns="0" tIns="12700" rIns="0" bIns="0" rtlCol="0">
            <a:spAutoFit/>
          </a:bodyPr>
          <a:lstStyle/>
          <a:p>
            <a:pPr marL="297815" marR="1022350" indent="-285750">
              <a:lnSpc>
                <a:spcPct val="150000"/>
              </a:lnSpc>
              <a:buFont typeface="Arial" panose="020B0604020202020204" pitchFamily="34" charset="0"/>
              <a:buChar char="•"/>
              <a:tabLst>
                <a:tab pos="401955" algn="l"/>
                <a:tab pos="402590" algn="l"/>
              </a:tabLst>
            </a:pPr>
            <a:r>
              <a:rPr lang="en-US" sz="1750" b="1" spc="-15" dirty="0">
                <a:latin typeface="Tahoma"/>
                <a:cs typeface="Tahoma"/>
              </a:rPr>
              <a:t>It will analyze the information such as distance travelled since the time it is active, years used, model of car, and other factors to estimate the insurance amount to be paid and give maintenance alerts if required.</a:t>
            </a:r>
          </a:p>
          <a:p>
            <a:pPr marL="297815" marR="1022350" indent="-285750">
              <a:lnSpc>
                <a:spcPct val="150000"/>
              </a:lnSpc>
              <a:buFont typeface="Arial" panose="020B0604020202020204" pitchFamily="34" charset="0"/>
              <a:buChar char="•"/>
              <a:tabLst>
                <a:tab pos="401955" algn="l"/>
                <a:tab pos="402590" algn="l"/>
              </a:tabLst>
            </a:pPr>
            <a:r>
              <a:rPr lang="en-US" sz="1750" b="1" spc="-10" dirty="0">
                <a:latin typeface="Tahoma"/>
                <a:cs typeface="Tahoma"/>
              </a:rPr>
              <a:t>It will also give an option to the customer whether they like to order a technician to do the work or the customer themselves do it if they have the knowledge, however choosing the later will not give any warranty or free replacement if anything goes wrong.</a:t>
            </a:r>
          </a:p>
          <a:p>
            <a:pPr marL="297815" marR="5080" indent="-285750">
              <a:lnSpc>
                <a:spcPct val="150000"/>
              </a:lnSpc>
              <a:buFont typeface="Arial" panose="020B0604020202020204" pitchFamily="34" charset="0"/>
              <a:buChar char="•"/>
              <a:tabLst>
                <a:tab pos="401955" algn="l"/>
                <a:tab pos="402590" algn="l"/>
              </a:tabLst>
            </a:pPr>
            <a:r>
              <a:rPr lang="en-US" sz="1750" b="1" spc="-10" dirty="0">
                <a:latin typeface="Tahoma"/>
                <a:cs typeface="Tahoma"/>
              </a:rPr>
              <a:t>It will also estimate the insurance claim that would be received by the customer due to faults caused by some unforeseen circumstances.</a:t>
            </a:r>
          </a:p>
          <a:p>
            <a:pPr marL="297815" marR="5080" indent="-285750">
              <a:lnSpc>
                <a:spcPct val="150000"/>
              </a:lnSpc>
              <a:buFont typeface="Arial" panose="020B0604020202020204" pitchFamily="34" charset="0"/>
              <a:buChar char="•"/>
              <a:tabLst>
                <a:tab pos="401955" algn="l"/>
                <a:tab pos="402590" algn="l"/>
              </a:tabLst>
            </a:pPr>
            <a:r>
              <a:rPr lang="en-US" sz="1750" b="1" dirty="0">
                <a:latin typeface="Tahoma" panose="020B0604030504040204" pitchFamily="34" charset="0"/>
                <a:ea typeface="Tahoma" panose="020B0604030504040204" pitchFamily="34" charset="0"/>
                <a:cs typeface="Tahoma" panose="020B0604030504040204" pitchFamily="34" charset="0"/>
              </a:rPr>
              <a:t>The system will also provide e-commerce support where in, if the issue is with a particular part then that particular part will be searched online and displayed to the customer by using the NLP model.</a:t>
            </a:r>
          </a:p>
        </p:txBody>
      </p:sp>
      <p:pic>
        <p:nvPicPr>
          <p:cNvPr id="4" name="object 4"/>
          <p:cNvPicPr/>
          <p:nvPr/>
        </p:nvPicPr>
        <p:blipFill>
          <a:blip r:embed="rId2" cstate="print"/>
          <a:stretch>
            <a:fillRect/>
          </a:stretch>
        </p:blipFill>
        <p:spPr>
          <a:xfrm>
            <a:off x="101123" y="39422"/>
            <a:ext cx="1398624" cy="1398624"/>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7</a:t>
            </a:fld>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75569" y="2776219"/>
            <a:ext cx="6582409" cy="1473200"/>
          </a:xfrm>
          <a:prstGeom prst="rect">
            <a:avLst/>
          </a:prstGeom>
        </p:spPr>
        <p:txBody>
          <a:bodyPr vert="horz" wrap="square" lIns="0" tIns="12700" rIns="0" bIns="0" rtlCol="0">
            <a:spAutoFit/>
          </a:bodyPr>
          <a:lstStyle/>
          <a:p>
            <a:pPr marL="12700">
              <a:lnSpc>
                <a:spcPct val="100000"/>
              </a:lnSpc>
              <a:spcBef>
                <a:spcPts val="100"/>
              </a:spcBef>
            </a:pPr>
            <a:r>
              <a:rPr sz="9500" spc="210" dirty="0">
                <a:latin typeface="Tahoma"/>
                <a:cs typeface="Tahoma"/>
              </a:rPr>
              <a:t>Thank</a:t>
            </a:r>
            <a:r>
              <a:rPr sz="9500" spc="-430" dirty="0">
                <a:latin typeface="Tahoma"/>
                <a:cs typeface="Tahoma"/>
              </a:rPr>
              <a:t> </a:t>
            </a:r>
            <a:r>
              <a:rPr sz="9500" spc="130" dirty="0">
                <a:latin typeface="Tahoma"/>
                <a:cs typeface="Tahoma"/>
              </a:rPr>
              <a:t>You</a:t>
            </a:r>
            <a:endParaRPr sz="9500">
              <a:latin typeface="Tahoma"/>
              <a:cs typeface="Tahoma"/>
            </a:endParaRPr>
          </a:p>
        </p:txBody>
      </p:sp>
      <p:pic>
        <p:nvPicPr>
          <p:cNvPr id="3" name="object 3"/>
          <p:cNvPicPr/>
          <p:nvPr/>
        </p:nvPicPr>
        <p:blipFill>
          <a:blip r:embed="rId2" cstate="print"/>
          <a:stretch>
            <a:fillRect/>
          </a:stretch>
        </p:blipFill>
        <p:spPr>
          <a:xfrm>
            <a:off x="136850" y="357575"/>
            <a:ext cx="1398624" cy="1398624"/>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8</a:t>
            </a:fld>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341</TotalTime>
  <Words>722</Words>
  <Application>Microsoft Office PowerPoint</Application>
  <PresentationFormat>On-screen Show (4:3)</PresentationFormat>
  <Paragraphs>47</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Cambria</vt:lpstr>
      <vt:lpstr>Tahoma</vt:lpstr>
      <vt:lpstr>Times New Roman</vt:lpstr>
      <vt:lpstr>Office Theme</vt:lpstr>
      <vt:lpstr>PowerPoint Presentation</vt:lpstr>
      <vt:lpstr>Table of contents</vt:lpstr>
      <vt:lpstr>Abstract</vt:lpstr>
      <vt:lpstr>Introduction</vt:lpstr>
      <vt:lpstr>PowerPoint Presentation</vt:lpstr>
      <vt:lpstr>Existing Systems</vt:lpstr>
      <vt:lpstr>Proposed Systems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 ppt </dc:title>
  <cp:lastModifiedBy>Yuvraj Singh</cp:lastModifiedBy>
  <cp:revision>1</cp:revision>
  <dcterms:created xsi:type="dcterms:W3CDTF">2022-08-11T13:22:39Z</dcterms:created>
  <dcterms:modified xsi:type="dcterms:W3CDTF">2022-08-11T19:04:23Z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