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19"/>
  </p:notesMasterIdLst>
  <p:sldIdLst>
    <p:sldId id="256" r:id="rId2"/>
    <p:sldId id="257" r:id="rId3"/>
    <p:sldId id="258" r:id="rId4"/>
    <p:sldId id="259" r:id="rId5"/>
    <p:sldId id="260" r:id="rId6"/>
    <p:sldId id="264" r:id="rId7"/>
    <p:sldId id="262" r:id="rId8"/>
    <p:sldId id="263" r:id="rId9"/>
    <p:sldId id="265" r:id="rId10"/>
    <p:sldId id="268" r:id="rId11"/>
    <p:sldId id="269" r:id="rId12"/>
    <p:sldId id="267" r:id="rId13"/>
    <p:sldId id="261" r:id="rId14"/>
    <p:sldId id="270" r:id="rId15"/>
    <p:sldId id="271"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2706" autoAdjust="0"/>
  </p:normalViewPr>
  <p:slideViewPr>
    <p:cSldViewPr showGuides="1">
      <p:cViewPr varScale="1">
        <p:scale>
          <a:sx n="80" d="100"/>
          <a:sy n="80" d="100"/>
        </p:scale>
        <p:origin x="1522" y="5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F18EBC-2DC5-4C09-9669-45A7D7E91EE9}" type="datetimeFigureOut">
              <a:rPr lang="en-IN" smtClean="0"/>
              <a:t>06-11-2022</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0684F1-EB13-46FD-B711-32BE3C1ACF72}" type="slidenum">
              <a:rPr lang="en-IN" smtClean="0"/>
              <a:t>‹#›</a:t>
            </a:fld>
            <a:endParaRPr lang="en-IN"/>
          </a:p>
        </p:txBody>
      </p:sp>
    </p:spTree>
    <p:extLst>
      <p:ext uri="{BB962C8B-B14F-4D97-AF65-F5344CB8AC3E}">
        <p14:creationId xmlns:p14="http://schemas.microsoft.com/office/powerpoint/2010/main" val="3112147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0684F1-EB13-46FD-B711-32BE3C1ACF72}" type="slidenum">
              <a:rPr lang="en-IN" smtClean="0"/>
              <a:t>3</a:t>
            </a:fld>
            <a:endParaRPr lang="en-IN"/>
          </a:p>
        </p:txBody>
      </p:sp>
    </p:spTree>
    <p:extLst>
      <p:ext uri="{BB962C8B-B14F-4D97-AF65-F5344CB8AC3E}">
        <p14:creationId xmlns:p14="http://schemas.microsoft.com/office/powerpoint/2010/main" val="3196319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0684F1-EB13-46FD-B711-32BE3C1ACF72}" type="slidenum">
              <a:rPr lang="en-IN" smtClean="0"/>
              <a:t>14</a:t>
            </a:fld>
            <a:endParaRPr lang="en-IN"/>
          </a:p>
        </p:txBody>
      </p:sp>
    </p:spTree>
    <p:extLst>
      <p:ext uri="{BB962C8B-B14F-4D97-AF65-F5344CB8AC3E}">
        <p14:creationId xmlns:p14="http://schemas.microsoft.com/office/powerpoint/2010/main" val="824102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0684F1-EB13-46FD-B711-32BE3C1ACF72}" type="slidenum">
              <a:rPr lang="en-IN" smtClean="0"/>
              <a:t>15</a:t>
            </a:fld>
            <a:endParaRPr lang="en-IN"/>
          </a:p>
        </p:txBody>
      </p:sp>
    </p:spTree>
    <p:extLst>
      <p:ext uri="{BB962C8B-B14F-4D97-AF65-F5344CB8AC3E}">
        <p14:creationId xmlns:p14="http://schemas.microsoft.com/office/powerpoint/2010/main" val="3095138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70F17-7D29-3939-CAE1-90DC2998EA87}"/>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N"/>
          </a:p>
        </p:txBody>
      </p:sp>
      <p:sp>
        <p:nvSpPr>
          <p:cNvPr id="3" name="Subtitle 2">
            <a:extLst>
              <a:ext uri="{FF2B5EF4-FFF2-40B4-BE49-F238E27FC236}">
                <a16:creationId xmlns:a16="http://schemas.microsoft.com/office/drawing/2014/main" id="{A4735E8D-0C18-683D-4D53-52DAB1ED999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72491B43-0E87-CD51-183E-FA1C8C839FFB}"/>
              </a:ext>
            </a:extLst>
          </p:cNvPr>
          <p:cNvSpPr>
            <a:spLocks noGrp="1"/>
          </p:cNvSpPr>
          <p:nvPr>
            <p:ph type="dt" sz="half" idx="10"/>
          </p:nvPr>
        </p:nvSpPr>
        <p:spPr/>
        <p:txBody>
          <a:bodyPr/>
          <a:lstStyle/>
          <a:p>
            <a:fld id="{D40AF957-720A-46D1-B6D8-31AC93EC341D}" type="datetime1">
              <a:rPr lang="en-US" smtClean="0"/>
              <a:t>06-Nov-22</a:t>
            </a:fld>
            <a:endParaRPr lang="en-US"/>
          </a:p>
        </p:txBody>
      </p:sp>
      <p:sp>
        <p:nvSpPr>
          <p:cNvPr id="5" name="Footer Placeholder 4">
            <a:extLst>
              <a:ext uri="{FF2B5EF4-FFF2-40B4-BE49-F238E27FC236}">
                <a16:creationId xmlns:a16="http://schemas.microsoft.com/office/drawing/2014/main" id="{40D1622A-FAA5-94B5-6DCA-86ECD1FF43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C49816-D72B-301B-3998-11D17E0FB167}"/>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2214009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C5080-7524-CD24-BA2B-9A1EE705E70A}"/>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3C71933A-AF6D-F76F-213C-3394E32896B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17C4149-0512-7087-BA7B-9F139029417B}"/>
              </a:ext>
            </a:extLst>
          </p:cNvPr>
          <p:cNvSpPr>
            <a:spLocks noGrp="1"/>
          </p:cNvSpPr>
          <p:nvPr>
            <p:ph type="dt" sz="half" idx="10"/>
          </p:nvPr>
        </p:nvSpPr>
        <p:spPr/>
        <p:txBody>
          <a:bodyPr/>
          <a:lstStyle/>
          <a:p>
            <a:fld id="{ABD8F6B8-6CCD-44CC-8EC5-043D277CA19F}" type="datetime1">
              <a:rPr lang="en-US" smtClean="0"/>
              <a:t>06-Nov-22</a:t>
            </a:fld>
            <a:endParaRPr lang="en-US"/>
          </a:p>
        </p:txBody>
      </p:sp>
      <p:sp>
        <p:nvSpPr>
          <p:cNvPr id="5" name="Footer Placeholder 4">
            <a:extLst>
              <a:ext uri="{FF2B5EF4-FFF2-40B4-BE49-F238E27FC236}">
                <a16:creationId xmlns:a16="http://schemas.microsoft.com/office/drawing/2014/main" id="{494A1810-63E7-B5F5-9428-EF8756E2CC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2CB617-2598-A04C-AD60-B860B924DE2B}"/>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1915078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B455B-9221-2D39-8D8E-0AF6F5B52441}"/>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F5AD38AE-CF30-F7B9-B9B3-8955FC545CE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3370414-883B-431A-A14B-1BF4BC2AEB32}"/>
              </a:ext>
            </a:extLst>
          </p:cNvPr>
          <p:cNvSpPr>
            <a:spLocks noGrp="1"/>
          </p:cNvSpPr>
          <p:nvPr>
            <p:ph type="dt" sz="half" idx="10"/>
          </p:nvPr>
        </p:nvSpPr>
        <p:spPr/>
        <p:txBody>
          <a:bodyPr/>
          <a:lstStyle/>
          <a:p>
            <a:fld id="{758FC587-0215-4971-ABD6-A9B296FADFC5}" type="datetime1">
              <a:rPr lang="en-US" smtClean="0"/>
              <a:t>06-Nov-22</a:t>
            </a:fld>
            <a:endParaRPr lang="en-US"/>
          </a:p>
        </p:txBody>
      </p:sp>
      <p:sp>
        <p:nvSpPr>
          <p:cNvPr id="5" name="Footer Placeholder 4">
            <a:extLst>
              <a:ext uri="{FF2B5EF4-FFF2-40B4-BE49-F238E27FC236}">
                <a16:creationId xmlns:a16="http://schemas.microsoft.com/office/drawing/2014/main" id="{8BE5630F-C875-F664-A9C3-F1030C6DB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D0CF1F-CE69-C853-E4D7-CC4DF6509D2F}"/>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3420026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6CEE1-95B5-E3E5-BCAD-BF8F4D67187B}"/>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78443661-A0C4-4CBB-381E-E72D09BB6E9C}"/>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905AFE9D-D2ED-3AB8-7108-ACF673F59B0D}"/>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AB5E9A57-8B1C-CEFE-1485-528DCC2491B6}"/>
              </a:ext>
            </a:extLst>
          </p:cNvPr>
          <p:cNvSpPr>
            <a:spLocks noGrp="1"/>
          </p:cNvSpPr>
          <p:nvPr>
            <p:ph type="dt" sz="half" idx="10"/>
          </p:nvPr>
        </p:nvSpPr>
        <p:spPr/>
        <p:txBody>
          <a:bodyPr/>
          <a:lstStyle/>
          <a:p>
            <a:fld id="{5BAFC3C5-6506-4004-90C8-853C8000AD4F}" type="datetime1">
              <a:rPr lang="en-US" smtClean="0"/>
              <a:t>06-Nov-22</a:t>
            </a:fld>
            <a:endParaRPr lang="en-US"/>
          </a:p>
        </p:txBody>
      </p:sp>
      <p:sp>
        <p:nvSpPr>
          <p:cNvPr id="6" name="Footer Placeholder 5">
            <a:extLst>
              <a:ext uri="{FF2B5EF4-FFF2-40B4-BE49-F238E27FC236}">
                <a16:creationId xmlns:a16="http://schemas.microsoft.com/office/drawing/2014/main" id="{C31C01AD-B965-3561-0328-DF63B97658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D2999C-C85F-8C91-C92D-CF71ED44D7FB}"/>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4062353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87FBA-300E-A843-41E4-ECD59E544DEF}"/>
              </a:ext>
            </a:extLst>
          </p:cNvPr>
          <p:cNvSpPr>
            <a:spLocks noGrp="1"/>
          </p:cNvSpPr>
          <p:nvPr>
            <p:ph type="title"/>
          </p:nvPr>
        </p:nvSpPr>
        <p:spPr>
          <a:xfrm>
            <a:off x="629841" y="365126"/>
            <a:ext cx="78867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C717AF20-EF81-BF8D-CD3C-DCB347FBEAA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E4E2B755-E62B-C3E3-088A-6E88DE54FC71}"/>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58C6D7D3-C256-D82E-B7E4-51F20BE9E79F}"/>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315021A1-F394-D1BD-B161-B7831E0FE2FE}"/>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91BB272C-50A0-612D-E6E6-51AC59BA83CF}"/>
              </a:ext>
            </a:extLst>
          </p:cNvPr>
          <p:cNvSpPr>
            <a:spLocks noGrp="1"/>
          </p:cNvSpPr>
          <p:nvPr>
            <p:ph type="dt" sz="half" idx="10"/>
          </p:nvPr>
        </p:nvSpPr>
        <p:spPr/>
        <p:txBody>
          <a:bodyPr/>
          <a:lstStyle/>
          <a:p>
            <a:fld id="{350F0B86-2AD8-4CE1-A8F3-B9AA024661FF}" type="datetime1">
              <a:rPr lang="en-US" smtClean="0"/>
              <a:t>06-Nov-22</a:t>
            </a:fld>
            <a:endParaRPr lang="en-US"/>
          </a:p>
        </p:txBody>
      </p:sp>
      <p:sp>
        <p:nvSpPr>
          <p:cNvPr id="8" name="Footer Placeholder 7">
            <a:extLst>
              <a:ext uri="{FF2B5EF4-FFF2-40B4-BE49-F238E27FC236}">
                <a16:creationId xmlns:a16="http://schemas.microsoft.com/office/drawing/2014/main" id="{B4448A16-B4E5-F321-6EC0-1433CD40A1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93C287-D425-EB45-5A27-1A06F29E8354}"/>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2385847303"/>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71666-56AA-92F5-DD62-C1364B96EF5B}"/>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A5EF909D-6704-B026-436D-6854FCDD2E6F}"/>
              </a:ext>
            </a:extLst>
          </p:cNvPr>
          <p:cNvSpPr>
            <a:spLocks noGrp="1"/>
          </p:cNvSpPr>
          <p:nvPr>
            <p:ph type="dt" sz="half" idx="10"/>
          </p:nvPr>
        </p:nvSpPr>
        <p:spPr/>
        <p:txBody>
          <a:bodyPr/>
          <a:lstStyle/>
          <a:p>
            <a:fld id="{1C612C21-DE4D-4A8B-8566-F6FBC2D841AB}" type="datetime1">
              <a:rPr lang="en-US" smtClean="0"/>
              <a:t>06-Nov-22</a:t>
            </a:fld>
            <a:endParaRPr lang="en-US"/>
          </a:p>
        </p:txBody>
      </p:sp>
      <p:sp>
        <p:nvSpPr>
          <p:cNvPr id="4" name="Footer Placeholder 3">
            <a:extLst>
              <a:ext uri="{FF2B5EF4-FFF2-40B4-BE49-F238E27FC236}">
                <a16:creationId xmlns:a16="http://schemas.microsoft.com/office/drawing/2014/main" id="{0FA45F8B-9937-D2B6-9B2C-2F34701B9C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202177-3D32-849E-8BFC-A2595B4C38DF}"/>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2779519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1868EA-9772-51C8-6F77-3BDAD0D5C6F6}"/>
              </a:ext>
            </a:extLst>
          </p:cNvPr>
          <p:cNvSpPr>
            <a:spLocks noGrp="1"/>
          </p:cNvSpPr>
          <p:nvPr>
            <p:ph type="dt" sz="half" idx="10"/>
          </p:nvPr>
        </p:nvSpPr>
        <p:spPr/>
        <p:txBody>
          <a:bodyPr/>
          <a:lstStyle/>
          <a:p>
            <a:fld id="{58744A39-B939-4A3A-981F-04E9BB681A6E}" type="datetime1">
              <a:rPr lang="en-US" smtClean="0"/>
              <a:t>06-Nov-22</a:t>
            </a:fld>
            <a:endParaRPr lang="en-US"/>
          </a:p>
        </p:txBody>
      </p:sp>
      <p:sp>
        <p:nvSpPr>
          <p:cNvPr id="3" name="Footer Placeholder 2">
            <a:extLst>
              <a:ext uri="{FF2B5EF4-FFF2-40B4-BE49-F238E27FC236}">
                <a16:creationId xmlns:a16="http://schemas.microsoft.com/office/drawing/2014/main" id="{4979868C-FAA9-5EF1-DE3D-3712AAF6A0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3B49F1-4BD9-A8BE-7F38-175254B76AB8}"/>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1922708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44701-4D0B-F3B9-909A-3FE0D8D2B6FD}"/>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C32D014D-AC06-2CFC-9C39-BEAE2AE2E2F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B987FCB6-419D-99B2-1CBF-315FD6199DB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ED891DB1-42B2-0D3A-35F1-689724191472}"/>
              </a:ext>
            </a:extLst>
          </p:cNvPr>
          <p:cNvSpPr>
            <a:spLocks noGrp="1"/>
          </p:cNvSpPr>
          <p:nvPr>
            <p:ph type="dt" sz="half" idx="10"/>
          </p:nvPr>
        </p:nvSpPr>
        <p:spPr/>
        <p:txBody>
          <a:bodyPr/>
          <a:lstStyle/>
          <a:p>
            <a:fld id="{418973B6-0314-4191-A59B-B5946D6514BF}" type="datetime1">
              <a:rPr lang="en-US" smtClean="0"/>
              <a:t>06-Nov-22</a:t>
            </a:fld>
            <a:endParaRPr lang="en-US"/>
          </a:p>
        </p:txBody>
      </p:sp>
      <p:sp>
        <p:nvSpPr>
          <p:cNvPr id="6" name="Footer Placeholder 5">
            <a:extLst>
              <a:ext uri="{FF2B5EF4-FFF2-40B4-BE49-F238E27FC236}">
                <a16:creationId xmlns:a16="http://schemas.microsoft.com/office/drawing/2014/main" id="{681828BE-BBFC-F9B8-F656-88AF7718D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05CA7C-5ECD-93B2-9737-F24A8222C1D9}"/>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400988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A6482-A361-2061-9001-FE6E63C7145D}"/>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28F860B0-4581-66A6-3B85-A3A41BEBD07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E5D085D5-DAC7-DD9C-C762-AC718451FBB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DE3524E7-28E6-ADC6-BCDA-6EC967251D5D}"/>
              </a:ext>
            </a:extLst>
          </p:cNvPr>
          <p:cNvSpPr>
            <a:spLocks noGrp="1"/>
          </p:cNvSpPr>
          <p:nvPr>
            <p:ph type="dt" sz="half" idx="10"/>
          </p:nvPr>
        </p:nvSpPr>
        <p:spPr/>
        <p:txBody>
          <a:bodyPr/>
          <a:lstStyle/>
          <a:p>
            <a:fld id="{C7226270-A361-43A7-B7D5-A941C3B6F275}" type="datetime1">
              <a:rPr lang="en-US" smtClean="0"/>
              <a:t>06-Nov-22</a:t>
            </a:fld>
            <a:endParaRPr lang="en-US"/>
          </a:p>
        </p:txBody>
      </p:sp>
      <p:sp>
        <p:nvSpPr>
          <p:cNvPr id="6" name="Footer Placeholder 5">
            <a:extLst>
              <a:ext uri="{FF2B5EF4-FFF2-40B4-BE49-F238E27FC236}">
                <a16:creationId xmlns:a16="http://schemas.microsoft.com/office/drawing/2014/main" id="{A3AC198D-67F0-9E49-5D68-EE041DF516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CD27507-75BE-60A8-714F-C2E9C2E3575A}"/>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2247164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43CF2-E231-9A03-391A-EF0012FCEFC9}"/>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A4C122C0-AF92-DF8A-9780-3B27BAD3E29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777F43A-43A8-9FB8-913B-9515B7FEBA16}"/>
              </a:ext>
            </a:extLst>
          </p:cNvPr>
          <p:cNvSpPr>
            <a:spLocks noGrp="1"/>
          </p:cNvSpPr>
          <p:nvPr>
            <p:ph type="dt" sz="half" idx="10"/>
          </p:nvPr>
        </p:nvSpPr>
        <p:spPr/>
        <p:txBody>
          <a:bodyPr/>
          <a:lstStyle/>
          <a:p>
            <a:fld id="{699B6533-E4AD-4987-BA5C-C562A70477DA}" type="datetime1">
              <a:rPr lang="en-US" smtClean="0"/>
              <a:t>06-Nov-22</a:t>
            </a:fld>
            <a:endParaRPr lang="en-US"/>
          </a:p>
        </p:txBody>
      </p:sp>
      <p:sp>
        <p:nvSpPr>
          <p:cNvPr id="5" name="Footer Placeholder 4">
            <a:extLst>
              <a:ext uri="{FF2B5EF4-FFF2-40B4-BE49-F238E27FC236}">
                <a16:creationId xmlns:a16="http://schemas.microsoft.com/office/drawing/2014/main" id="{60FC165C-2443-53F3-20BF-B0F221059B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B95417-E9AA-1421-80FA-7A62C9770226}"/>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1212955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20B04A-3119-5F38-4BE2-8F38FF918BC9}"/>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D0302DED-C504-B708-E287-0A3B22CD803F}"/>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F9475B0-B99B-63A7-64F0-77C3B1817CD9}"/>
              </a:ext>
            </a:extLst>
          </p:cNvPr>
          <p:cNvSpPr>
            <a:spLocks noGrp="1"/>
          </p:cNvSpPr>
          <p:nvPr>
            <p:ph type="dt" sz="half" idx="10"/>
          </p:nvPr>
        </p:nvSpPr>
        <p:spPr/>
        <p:txBody>
          <a:bodyPr/>
          <a:lstStyle/>
          <a:p>
            <a:fld id="{2822EC05-2B36-45F6-9AF7-896873FAF4EC}" type="datetime1">
              <a:rPr lang="en-US" smtClean="0"/>
              <a:t>06-Nov-22</a:t>
            </a:fld>
            <a:endParaRPr lang="en-US"/>
          </a:p>
        </p:txBody>
      </p:sp>
      <p:sp>
        <p:nvSpPr>
          <p:cNvPr id="5" name="Footer Placeholder 4">
            <a:extLst>
              <a:ext uri="{FF2B5EF4-FFF2-40B4-BE49-F238E27FC236}">
                <a16:creationId xmlns:a16="http://schemas.microsoft.com/office/drawing/2014/main" id="{1D7CC41A-B937-F97A-D5FE-055C8B0BD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E5840-0C76-4DE6-EBC8-937AF53647E6}"/>
              </a:ext>
            </a:extLst>
          </p:cNvPr>
          <p:cNvSpPr>
            <a:spLocks noGrp="1"/>
          </p:cNvSpPr>
          <p:nvPr>
            <p:ph type="sldNum" sz="quarter" idx="12"/>
          </p:nvPr>
        </p:nvSpPr>
        <p:spPr/>
        <p:txBody>
          <a:bodyPr/>
          <a:lstStyle/>
          <a:p>
            <a:fld id="{4F7E9C80-C75B-4B75-A6C5-E58A18995148}" type="slidenum">
              <a:rPr lang="en-US" smtClean="0"/>
              <a:t>‹#›</a:t>
            </a:fld>
            <a:endParaRPr lang="en-US"/>
          </a:p>
        </p:txBody>
      </p:sp>
    </p:spTree>
    <p:extLst>
      <p:ext uri="{BB962C8B-B14F-4D97-AF65-F5344CB8AC3E}">
        <p14:creationId xmlns:p14="http://schemas.microsoft.com/office/powerpoint/2010/main" val="2080481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707569-9588-1BD2-96A8-DCF406E8A05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0C6983A6-1A80-B8BF-35DA-1DBF9444336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03EA2AE-B2FA-1E54-AC83-66B7E6183ADD}"/>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50F0B86-2AD8-4CE1-A8F3-B9AA024661FF}" type="datetime1">
              <a:rPr lang="en-US" smtClean="0"/>
              <a:t>06-Nov-22</a:t>
            </a:fld>
            <a:endParaRPr lang="en-US"/>
          </a:p>
        </p:txBody>
      </p:sp>
      <p:sp>
        <p:nvSpPr>
          <p:cNvPr id="5" name="Footer Placeholder 4">
            <a:extLst>
              <a:ext uri="{FF2B5EF4-FFF2-40B4-BE49-F238E27FC236}">
                <a16:creationId xmlns:a16="http://schemas.microsoft.com/office/drawing/2014/main" id="{E44C1F1A-BF70-3569-281C-8B92707B5D5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D408ED-3A17-2462-963C-CD77D2E692E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F7E9C80-C75B-4B75-A6C5-E58A18995148}" type="slidenum">
              <a:rPr lang="en-US" smtClean="0"/>
              <a:t>‹#›</a:t>
            </a:fld>
            <a:endParaRPr lang="en-US"/>
          </a:p>
        </p:txBody>
      </p:sp>
    </p:spTree>
    <p:extLst>
      <p:ext uri="{BB962C8B-B14F-4D97-AF65-F5344CB8AC3E}">
        <p14:creationId xmlns:p14="http://schemas.microsoft.com/office/powerpoint/2010/main" val="180317267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hyperlink" Target="https://github.com/Avi-2362/Bike-Value-Predictor" TargetMode="External"/><Relationship Id="rId4" Type="http://schemas.openxmlformats.org/officeDocument/2006/relationships/hyperlink" Target="https://bikevaluepredictorvk18.streamlit.app/"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github.com/Avi-2362/Vehicle-Insurance-Predictor" TargetMode="Externa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vehicleinsurancepredictor18vk.streamlit.app/" TargetMode="Externa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https://www.researchgate.net/scientific-contributions/Teklu-Urgessa-2219071350"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www.researchgate.net/scientific-contributions/Tiruveedula-Gopikrishna-219242974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762000" y="2528019"/>
            <a:ext cx="8305800" cy="1538058"/>
          </a:xfrm>
        </p:spPr>
        <p:txBody>
          <a:bodyPr>
            <a:normAutofit fontScale="90000"/>
          </a:bodyPr>
          <a:lstStyle/>
          <a:p>
            <a:r>
              <a:rPr lang="en-IN" sz="5400" dirty="0">
                <a:solidFill>
                  <a:schemeClr val="tx1"/>
                </a:solidFill>
              </a:rPr>
              <a:t>Vehicle Health Analysis and Spare E-Commerce</a:t>
            </a:r>
            <a:endParaRPr lang="en-US" sz="5400" dirty="0"/>
          </a:p>
        </p:txBody>
      </p:sp>
      <p:sp>
        <p:nvSpPr>
          <p:cNvPr id="7" name="Subtitle 6"/>
          <p:cNvSpPr>
            <a:spLocks noGrp="1"/>
          </p:cNvSpPr>
          <p:nvPr>
            <p:ph type="subTitle" idx="1"/>
          </p:nvPr>
        </p:nvSpPr>
        <p:spPr>
          <a:xfrm>
            <a:off x="1143000" y="4473057"/>
            <a:ext cx="3429000" cy="1470543"/>
          </a:xfrm>
        </p:spPr>
        <p:txBody>
          <a:bodyPr>
            <a:noAutofit/>
          </a:bodyPr>
          <a:lstStyle/>
          <a:p>
            <a:pPr marL="0" lvl="0" indent="0" rtl="0">
              <a:spcBef>
                <a:spcPts val="0"/>
              </a:spcBef>
              <a:spcAft>
                <a:spcPts val="0"/>
              </a:spcAft>
              <a:buClr>
                <a:srgbClr val="888888"/>
              </a:buClr>
              <a:buSzPct val="100000"/>
              <a:buNone/>
            </a:pPr>
            <a:r>
              <a:rPr lang="en-US" altLang="en-US" sz="1600" dirty="0">
                <a:solidFill>
                  <a:schemeClr val="tx1"/>
                </a:solidFill>
              </a:rPr>
              <a:t>RA1911027010058</a:t>
            </a:r>
            <a:endParaRPr lang="en-US" sz="1600" dirty="0">
              <a:solidFill>
                <a:schemeClr val="tx1"/>
              </a:solidFill>
            </a:endParaRPr>
          </a:p>
          <a:p>
            <a:pPr marL="0" indent="0">
              <a:spcBef>
                <a:spcPts val="590"/>
              </a:spcBef>
              <a:buSzPct val="100000"/>
            </a:pPr>
            <a:r>
              <a:rPr lang="en-US" altLang="en-US" sz="1600" dirty="0">
                <a:solidFill>
                  <a:schemeClr val="tx1"/>
                </a:solidFill>
              </a:rPr>
              <a:t>YUVRAJ SINGH CHAUHAN</a:t>
            </a:r>
            <a:endParaRPr lang="en-US" sz="1600" dirty="0">
              <a:solidFill>
                <a:schemeClr val="tx1"/>
              </a:solidFill>
            </a:endParaRPr>
          </a:p>
          <a:p>
            <a:pPr marL="0" lvl="0" indent="0" algn="ctr" rtl="0">
              <a:spcBef>
                <a:spcPts val="590"/>
              </a:spcBef>
              <a:spcAft>
                <a:spcPts val="0"/>
              </a:spcAft>
              <a:buClr>
                <a:srgbClr val="888888"/>
              </a:buClr>
              <a:buSzPct val="100000"/>
              <a:buNone/>
            </a:pPr>
            <a:endParaRPr lang="en-US" sz="1600" dirty="0">
              <a:solidFill>
                <a:schemeClr val="tx1"/>
              </a:solidFill>
            </a:endParaRPr>
          </a:p>
          <a:p>
            <a:pPr marL="0" lvl="0" indent="0" rtl="0">
              <a:spcBef>
                <a:spcPts val="590"/>
              </a:spcBef>
              <a:spcAft>
                <a:spcPts val="0"/>
              </a:spcAft>
              <a:buClr>
                <a:srgbClr val="888888"/>
              </a:buClr>
              <a:buSzPct val="100000"/>
              <a:buNone/>
            </a:pPr>
            <a:r>
              <a:rPr lang="en-US" altLang="en-US" sz="1600" dirty="0">
                <a:solidFill>
                  <a:schemeClr val="tx1"/>
                </a:solidFill>
              </a:rPr>
              <a:t>RA1911027010007</a:t>
            </a:r>
            <a:endParaRPr lang="en-US" sz="1600" dirty="0">
              <a:solidFill>
                <a:schemeClr val="tx1"/>
              </a:solidFill>
            </a:endParaRPr>
          </a:p>
          <a:p>
            <a:pPr marL="0" lvl="0" indent="0">
              <a:spcBef>
                <a:spcPts val="590"/>
              </a:spcBef>
              <a:buSzPct val="100000"/>
            </a:pPr>
            <a:r>
              <a:rPr lang="en-US" altLang="en-US" sz="1600" dirty="0">
                <a:solidFill>
                  <a:schemeClr val="tx1"/>
                </a:solidFill>
              </a:rPr>
              <a:t>AVINASH REDDY VASIPALLI</a:t>
            </a:r>
          </a:p>
        </p:txBody>
      </p:sp>
      <p:pic>
        <p:nvPicPr>
          <p:cNvPr id="8" name="image2.jpeg"/>
          <p:cNvPicPr/>
          <p:nvPr/>
        </p:nvPicPr>
        <p:blipFill>
          <a:blip r:embed="rId2"/>
          <a:srcRect/>
          <a:stretch>
            <a:fillRect/>
          </a:stretch>
        </p:blipFill>
        <p:spPr bwMode="auto">
          <a:xfrm>
            <a:off x="198120" y="208063"/>
            <a:ext cx="2268220" cy="979525"/>
          </a:xfrm>
          <a:prstGeom prst="rect">
            <a:avLst/>
          </a:prstGeom>
          <a:noFill/>
          <a:ln w="9525">
            <a:noFill/>
            <a:miter lim="800000"/>
            <a:headEnd/>
            <a:tailEnd/>
          </a:ln>
        </p:spPr>
      </p:pic>
      <p:sp>
        <p:nvSpPr>
          <p:cNvPr id="9" name="Rectangle 8"/>
          <p:cNvSpPr/>
          <p:nvPr/>
        </p:nvSpPr>
        <p:spPr>
          <a:xfrm>
            <a:off x="2466340" y="300335"/>
            <a:ext cx="6692900" cy="1200329"/>
          </a:xfrm>
          <a:prstGeom prst="rect">
            <a:avLst/>
          </a:prstGeom>
        </p:spPr>
        <p:txBody>
          <a:bodyPr wrap="square">
            <a:spAutoFit/>
          </a:bodyPr>
          <a:lstStyle/>
          <a:p>
            <a:pPr algn="ctr"/>
            <a:r>
              <a:rPr lang="en-US" b="1" dirty="0"/>
              <a:t>SRM INSTITUTE OF SCIENCE AND TECHNOLOGY </a:t>
            </a:r>
            <a:endParaRPr lang="en-US" dirty="0"/>
          </a:p>
          <a:p>
            <a:pPr algn="ctr"/>
            <a:r>
              <a:rPr lang="en-US" b="1" dirty="0"/>
              <a:t>FACULTY OF ENGINEERING AND TECHNOLOGY</a:t>
            </a:r>
            <a:endParaRPr lang="en-US" dirty="0"/>
          </a:p>
          <a:p>
            <a:pPr algn="ctr"/>
            <a:r>
              <a:rPr lang="en-US" b="1" dirty="0"/>
              <a:t>DEPARTMENT OF DATA SCIENCE AND BUSINESS SYSTEMS</a:t>
            </a:r>
            <a:endParaRPr lang="en-US" dirty="0"/>
          </a:p>
        </p:txBody>
      </p:sp>
      <p:sp>
        <p:nvSpPr>
          <p:cNvPr id="2" name="TextBox 1">
            <a:extLst>
              <a:ext uri="{FF2B5EF4-FFF2-40B4-BE49-F238E27FC236}">
                <a16:creationId xmlns:a16="http://schemas.microsoft.com/office/drawing/2014/main" id="{629B141C-7A61-4573-AE42-A5881BFF3D77}"/>
              </a:ext>
            </a:extLst>
          </p:cNvPr>
          <p:cNvSpPr txBox="1"/>
          <p:nvPr/>
        </p:nvSpPr>
        <p:spPr>
          <a:xfrm>
            <a:off x="1562100" y="1853725"/>
            <a:ext cx="6019800" cy="369332"/>
          </a:xfrm>
          <a:prstGeom prst="rect">
            <a:avLst/>
          </a:prstGeom>
          <a:noFill/>
        </p:spPr>
        <p:txBody>
          <a:bodyPr wrap="square" rtlCol="0">
            <a:spAutoFit/>
          </a:bodyPr>
          <a:lstStyle/>
          <a:p>
            <a:pPr algn="ctr"/>
            <a:r>
              <a:rPr lang="en-US" b="1" i="0" dirty="0">
                <a:effectLst/>
                <a:latin typeface="Google Sans"/>
              </a:rPr>
              <a:t>18CSP107L- MINOR PROJECT</a:t>
            </a:r>
          </a:p>
        </p:txBody>
      </p:sp>
      <p:sp>
        <p:nvSpPr>
          <p:cNvPr id="4" name="TextBox 3">
            <a:extLst>
              <a:ext uri="{FF2B5EF4-FFF2-40B4-BE49-F238E27FC236}">
                <a16:creationId xmlns:a16="http://schemas.microsoft.com/office/drawing/2014/main" id="{40F73CAC-367B-6D7A-507B-0965F9D25CE9}"/>
              </a:ext>
            </a:extLst>
          </p:cNvPr>
          <p:cNvSpPr txBox="1"/>
          <p:nvPr/>
        </p:nvSpPr>
        <p:spPr>
          <a:xfrm>
            <a:off x="4800600" y="5181061"/>
            <a:ext cx="3663696" cy="1295355"/>
          </a:xfrm>
          <a:prstGeom prst="rect">
            <a:avLst/>
          </a:prstGeom>
          <a:noFill/>
        </p:spPr>
        <p:txBody>
          <a:bodyPr wrap="square">
            <a:spAutoFit/>
          </a:bodyPr>
          <a:lstStyle/>
          <a:p>
            <a:pPr marL="0" indent="0" algn="r">
              <a:lnSpc>
                <a:spcPct val="170000"/>
              </a:lnSpc>
              <a:spcBef>
                <a:spcPts val="590"/>
              </a:spcBef>
              <a:buSzPct val="100000"/>
            </a:pPr>
            <a:r>
              <a:rPr lang="en-US" sz="1400" b="1" dirty="0">
                <a:solidFill>
                  <a:schemeClr val="tx1"/>
                </a:solidFill>
              </a:rPr>
              <a:t>Guide name: </a:t>
            </a:r>
            <a:r>
              <a:rPr lang="en-IN" altLang="en-US" sz="1400" b="1" dirty="0">
                <a:solidFill>
                  <a:schemeClr val="tx1"/>
                </a:solidFill>
              </a:rPr>
              <a:t> T. KARTHICK</a:t>
            </a:r>
            <a:endParaRPr lang="en-US" sz="1400" b="1" dirty="0">
              <a:solidFill>
                <a:schemeClr val="tx1"/>
              </a:solidFill>
            </a:endParaRPr>
          </a:p>
          <a:p>
            <a:pPr marL="0" indent="0" algn="r">
              <a:lnSpc>
                <a:spcPct val="170000"/>
              </a:lnSpc>
              <a:spcBef>
                <a:spcPts val="590"/>
              </a:spcBef>
              <a:buSzPct val="100000"/>
            </a:pPr>
            <a:r>
              <a:rPr lang="en-US" sz="1400" b="1" dirty="0">
                <a:solidFill>
                  <a:schemeClr val="tx1"/>
                </a:solidFill>
              </a:rPr>
              <a:t>Designation:</a:t>
            </a:r>
            <a:r>
              <a:rPr lang="en-IN" altLang="en-US" sz="1400" b="1" dirty="0">
                <a:solidFill>
                  <a:schemeClr val="tx1"/>
                </a:solidFill>
              </a:rPr>
              <a:t> Assistant Professor</a:t>
            </a:r>
          </a:p>
          <a:p>
            <a:pPr marL="0" indent="0" algn="r">
              <a:lnSpc>
                <a:spcPct val="170000"/>
              </a:lnSpc>
              <a:spcBef>
                <a:spcPts val="590"/>
              </a:spcBef>
              <a:buSzPct val="100000"/>
            </a:pPr>
            <a:r>
              <a:rPr lang="en-US" sz="1400" b="1" dirty="0">
                <a:solidFill>
                  <a:schemeClr val="tx1"/>
                </a:solidFill>
              </a:rPr>
              <a:t>Department:</a:t>
            </a:r>
            <a:r>
              <a:rPr lang="en-IN" altLang="en-US" sz="1400" b="1" dirty="0">
                <a:solidFill>
                  <a:schemeClr val="tx1"/>
                </a:solidFill>
              </a:rPr>
              <a:t> DSBS</a:t>
            </a:r>
            <a:endParaRPr lang="en-US" sz="1400" dirty="0"/>
          </a:p>
        </p:txBody>
      </p:sp>
    </p:spTree>
    <p:extLst>
      <p:ext uri="{BB962C8B-B14F-4D97-AF65-F5344CB8AC3E}">
        <p14:creationId xmlns:p14="http://schemas.microsoft.com/office/powerpoint/2010/main" val="3105303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4050" y="468161"/>
            <a:ext cx="7219950" cy="705933"/>
          </a:xfrm>
        </p:spPr>
        <p:txBody>
          <a:bodyPr>
            <a:normAutofit/>
          </a:bodyPr>
          <a:lstStyle/>
          <a:p>
            <a:pPr algn="ctr"/>
            <a:r>
              <a:rPr lang="en-US" sz="2800" b="1" u="sng" dirty="0"/>
              <a:t>  Table of Contents</a:t>
            </a:r>
          </a:p>
        </p:txBody>
      </p:sp>
      <p:graphicFrame>
        <p:nvGraphicFramePr>
          <p:cNvPr id="8" name="Table 8">
            <a:extLst>
              <a:ext uri="{FF2B5EF4-FFF2-40B4-BE49-F238E27FC236}">
                <a16:creationId xmlns:a16="http://schemas.microsoft.com/office/drawing/2014/main" id="{E341161D-725F-41EA-999F-DD44363A08D8}"/>
              </a:ext>
            </a:extLst>
          </p:cNvPr>
          <p:cNvGraphicFramePr>
            <a:graphicFrameLocks noGrp="1"/>
          </p:cNvGraphicFramePr>
          <p:nvPr>
            <p:extLst>
              <p:ext uri="{D42A27DB-BD31-4B8C-83A1-F6EECF244321}">
                <p14:modId xmlns:p14="http://schemas.microsoft.com/office/powerpoint/2010/main" val="368799170"/>
              </p:ext>
            </p:extLst>
          </p:nvPr>
        </p:nvGraphicFramePr>
        <p:xfrm>
          <a:off x="609600" y="1441811"/>
          <a:ext cx="7734300" cy="5145736"/>
        </p:xfrm>
        <a:graphic>
          <a:graphicData uri="http://schemas.openxmlformats.org/drawingml/2006/table">
            <a:tbl>
              <a:tblPr firstRow="1" bandRow="1">
                <a:tableStyleId>{5C22544A-7EE6-4342-B048-85BDC9FD1C3A}</a:tableStyleId>
              </a:tblPr>
              <a:tblGrid>
                <a:gridCol w="1256823">
                  <a:extLst>
                    <a:ext uri="{9D8B030D-6E8A-4147-A177-3AD203B41FA5}">
                      <a16:colId xmlns:a16="http://schemas.microsoft.com/office/drawing/2014/main" val="1254440065"/>
                    </a:ext>
                  </a:extLst>
                </a:gridCol>
                <a:gridCol w="4943262">
                  <a:extLst>
                    <a:ext uri="{9D8B030D-6E8A-4147-A177-3AD203B41FA5}">
                      <a16:colId xmlns:a16="http://schemas.microsoft.com/office/drawing/2014/main" val="2969296247"/>
                    </a:ext>
                  </a:extLst>
                </a:gridCol>
                <a:gridCol w="1534215">
                  <a:extLst>
                    <a:ext uri="{9D8B030D-6E8A-4147-A177-3AD203B41FA5}">
                      <a16:colId xmlns:a16="http://schemas.microsoft.com/office/drawing/2014/main" val="3167360248"/>
                    </a:ext>
                  </a:extLst>
                </a:gridCol>
              </a:tblGrid>
              <a:tr h="398730">
                <a:tc>
                  <a:txBody>
                    <a:bodyPr/>
                    <a:lstStyle/>
                    <a:p>
                      <a:pPr algn="ctr"/>
                      <a:r>
                        <a:rPr lang="en-IN" dirty="0"/>
                        <a:t>S.NO</a:t>
                      </a:r>
                    </a:p>
                  </a:txBody>
                  <a:tcPr/>
                </a:tc>
                <a:tc>
                  <a:txBody>
                    <a:bodyPr/>
                    <a:lstStyle/>
                    <a:p>
                      <a:pPr algn="ctr"/>
                      <a:r>
                        <a:rPr lang="en-IN" dirty="0"/>
                        <a:t>TITLE</a:t>
                      </a:r>
                    </a:p>
                  </a:txBody>
                  <a:tcPr/>
                </a:tc>
                <a:tc>
                  <a:txBody>
                    <a:bodyPr/>
                    <a:lstStyle/>
                    <a:p>
                      <a:pPr algn="ctr"/>
                      <a:r>
                        <a:rPr lang="en-IN" dirty="0"/>
                        <a:t>Slide No</a:t>
                      </a:r>
                    </a:p>
                  </a:txBody>
                  <a:tcPr/>
                </a:tc>
                <a:extLst>
                  <a:ext uri="{0D108BD9-81ED-4DB2-BD59-A6C34878D82A}">
                    <a16:rowId xmlns:a16="http://schemas.microsoft.com/office/drawing/2014/main" val="5099405"/>
                  </a:ext>
                </a:extLst>
              </a:tr>
              <a:tr h="398730">
                <a:tc>
                  <a:txBody>
                    <a:bodyPr/>
                    <a:lstStyle/>
                    <a:p>
                      <a:pPr algn="ctr"/>
                      <a:r>
                        <a:rPr lang="en-IN" dirty="0"/>
                        <a:t>1</a:t>
                      </a:r>
                    </a:p>
                  </a:txBody>
                  <a:tcPr/>
                </a:tc>
                <a:tc>
                  <a:txBody>
                    <a:bodyPr/>
                    <a:lstStyle/>
                    <a:p>
                      <a:pPr algn="ctr"/>
                      <a:r>
                        <a:rPr lang="en-IN" dirty="0"/>
                        <a:t>ABSTRACT</a:t>
                      </a:r>
                    </a:p>
                  </a:txBody>
                  <a:tcPr/>
                </a:tc>
                <a:tc>
                  <a:txBody>
                    <a:bodyPr/>
                    <a:lstStyle/>
                    <a:p>
                      <a:pPr algn="ctr"/>
                      <a:r>
                        <a:rPr lang="en-IN" dirty="0"/>
                        <a:t>3</a:t>
                      </a:r>
                    </a:p>
                  </a:txBody>
                  <a:tcPr/>
                </a:tc>
                <a:extLst>
                  <a:ext uri="{0D108BD9-81ED-4DB2-BD59-A6C34878D82A}">
                    <a16:rowId xmlns:a16="http://schemas.microsoft.com/office/drawing/2014/main" val="401469524"/>
                  </a:ext>
                </a:extLst>
              </a:tr>
              <a:tr h="398730">
                <a:tc>
                  <a:txBody>
                    <a:bodyPr/>
                    <a:lstStyle/>
                    <a:p>
                      <a:pPr algn="ctr"/>
                      <a:r>
                        <a:rPr lang="en-IN" dirty="0"/>
                        <a:t>2</a:t>
                      </a:r>
                    </a:p>
                  </a:txBody>
                  <a:tcPr/>
                </a:tc>
                <a:tc>
                  <a:txBody>
                    <a:bodyPr/>
                    <a:lstStyle/>
                    <a:p>
                      <a:pPr algn="ctr"/>
                      <a:r>
                        <a:rPr lang="en-IN" dirty="0"/>
                        <a:t>INTRODUCTION TO PROJECT</a:t>
                      </a:r>
                    </a:p>
                  </a:txBody>
                  <a:tcPr/>
                </a:tc>
                <a:tc>
                  <a:txBody>
                    <a:bodyPr/>
                    <a:lstStyle/>
                    <a:p>
                      <a:pPr algn="ctr"/>
                      <a:r>
                        <a:rPr lang="en-IN" dirty="0"/>
                        <a:t>4</a:t>
                      </a:r>
                    </a:p>
                  </a:txBody>
                  <a:tcPr/>
                </a:tc>
                <a:extLst>
                  <a:ext uri="{0D108BD9-81ED-4DB2-BD59-A6C34878D82A}">
                    <a16:rowId xmlns:a16="http://schemas.microsoft.com/office/drawing/2014/main" val="3919473200"/>
                  </a:ext>
                </a:extLst>
              </a:tr>
              <a:tr h="400814">
                <a:tc>
                  <a:txBody>
                    <a:bodyPr/>
                    <a:lstStyle/>
                    <a:p>
                      <a:pPr algn="ctr"/>
                      <a:r>
                        <a:rPr lang="en-IN" dirty="0"/>
                        <a:t>3</a:t>
                      </a:r>
                    </a:p>
                  </a:txBody>
                  <a:tcPr/>
                </a:tc>
                <a:tc>
                  <a:txBody>
                    <a:bodyPr/>
                    <a:lstStyle/>
                    <a:p>
                      <a:pPr algn="ctr"/>
                      <a:r>
                        <a:rPr lang="en-IN" dirty="0"/>
                        <a:t>PROBLEM STATEMENT &amp; OBJECTIVE</a:t>
                      </a:r>
                    </a:p>
                  </a:txBody>
                  <a:tcPr/>
                </a:tc>
                <a:tc>
                  <a:txBody>
                    <a:bodyPr/>
                    <a:lstStyle/>
                    <a:p>
                      <a:pPr algn="ctr"/>
                      <a:r>
                        <a:rPr lang="en-IN" dirty="0"/>
                        <a:t>5</a:t>
                      </a:r>
                    </a:p>
                  </a:txBody>
                  <a:tcPr/>
                </a:tc>
                <a:extLst>
                  <a:ext uri="{0D108BD9-81ED-4DB2-BD59-A6C34878D82A}">
                    <a16:rowId xmlns:a16="http://schemas.microsoft.com/office/drawing/2014/main" val="964976477"/>
                  </a:ext>
                </a:extLst>
              </a:tr>
              <a:tr h="358892">
                <a:tc>
                  <a:txBody>
                    <a:bodyPr/>
                    <a:lstStyle/>
                    <a:p>
                      <a:pPr algn="ctr"/>
                      <a:r>
                        <a:rPr lang="en-IN" dirty="0"/>
                        <a:t>4</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dirty="0"/>
                        <a:t>PROPOSED METHODOLOGY</a:t>
                      </a:r>
                    </a:p>
                  </a:txBody>
                  <a:tcPr/>
                </a:tc>
                <a:tc>
                  <a:txBody>
                    <a:bodyPr/>
                    <a:lstStyle/>
                    <a:p>
                      <a:pPr algn="ctr"/>
                      <a:r>
                        <a:rPr lang="en-IN" dirty="0"/>
                        <a:t>6</a:t>
                      </a:r>
                    </a:p>
                  </a:txBody>
                  <a:tcPr/>
                </a:tc>
                <a:extLst>
                  <a:ext uri="{0D108BD9-81ED-4DB2-BD59-A6C34878D82A}">
                    <a16:rowId xmlns:a16="http://schemas.microsoft.com/office/drawing/2014/main" val="2372020668"/>
                  </a:ext>
                </a:extLst>
              </a:tr>
              <a:tr h="398730">
                <a:tc>
                  <a:txBody>
                    <a:bodyPr/>
                    <a:lstStyle/>
                    <a:p>
                      <a:pPr algn="ctr"/>
                      <a:r>
                        <a:rPr lang="en-IN" dirty="0"/>
                        <a:t>5</a:t>
                      </a:r>
                    </a:p>
                  </a:txBody>
                  <a:tcPr/>
                </a:tc>
                <a:tc>
                  <a:txBody>
                    <a:bodyPr/>
                    <a:lstStyle/>
                    <a:p>
                      <a:pPr algn="ctr"/>
                      <a:r>
                        <a:rPr lang="en-IN" dirty="0"/>
                        <a:t>ARCHITECTURE/BLOCK DIAGRAM </a:t>
                      </a:r>
                    </a:p>
                  </a:txBody>
                  <a:tcPr/>
                </a:tc>
                <a:tc>
                  <a:txBody>
                    <a:bodyPr/>
                    <a:lstStyle/>
                    <a:p>
                      <a:pPr algn="ctr"/>
                      <a:r>
                        <a:rPr lang="en-IN" dirty="0"/>
                        <a:t>7</a:t>
                      </a:r>
                    </a:p>
                  </a:txBody>
                  <a:tcPr/>
                </a:tc>
                <a:extLst>
                  <a:ext uri="{0D108BD9-81ED-4DB2-BD59-A6C34878D82A}">
                    <a16:rowId xmlns:a16="http://schemas.microsoft.com/office/drawing/2014/main" val="2215274237"/>
                  </a:ext>
                </a:extLst>
              </a:tr>
              <a:tr h="398730">
                <a:tc>
                  <a:txBody>
                    <a:bodyPr/>
                    <a:lstStyle/>
                    <a:p>
                      <a:pPr algn="ctr"/>
                      <a:r>
                        <a:rPr lang="en-IN" dirty="0"/>
                        <a:t>6</a:t>
                      </a:r>
                    </a:p>
                  </a:txBody>
                  <a:tcPr/>
                </a:tc>
                <a:tc>
                  <a:txBody>
                    <a:bodyPr/>
                    <a:lstStyle/>
                    <a:p>
                      <a:pPr algn="ctr"/>
                      <a:r>
                        <a:rPr lang="en-IN" dirty="0"/>
                        <a:t>ALGORITHM USED</a:t>
                      </a:r>
                    </a:p>
                  </a:txBody>
                  <a:tcPr/>
                </a:tc>
                <a:tc>
                  <a:txBody>
                    <a:bodyPr/>
                    <a:lstStyle/>
                    <a:p>
                      <a:pPr algn="ctr"/>
                      <a:r>
                        <a:rPr lang="en-IN" dirty="0"/>
                        <a:t>8</a:t>
                      </a:r>
                    </a:p>
                  </a:txBody>
                  <a:tcPr/>
                </a:tc>
                <a:extLst>
                  <a:ext uri="{0D108BD9-81ED-4DB2-BD59-A6C34878D82A}">
                    <a16:rowId xmlns:a16="http://schemas.microsoft.com/office/drawing/2014/main" val="542394047"/>
                  </a:ext>
                </a:extLst>
              </a:tr>
              <a:tr h="398730">
                <a:tc>
                  <a:txBody>
                    <a:bodyPr/>
                    <a:lstStyle/>
                    <a:p>
                      <a:pPr algn="ctr"/>
                      <a:r>
                        <a:rPr lang="en-IN" dirty="0"/>
                        <a:t>7</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dirty="0"/>
                        <a:t>INTERMEDIATE RESULT AND DISCUSSION</a:t>
                      </a:r>
                    </a:p>
                  </a:txBody>
                  <a:tcPr/>
                </a:tc>
                <a:tc>
                  <a:txBody>
                    <a:bodyPr/>
                    <a:lstStyle/>
                    <a:p>
                      <a:pPr algn="ctr"/>
                      <a:r>
                        <a:rPr lang="en-IN" dirty="0"/>
                        <a:t>9</a:t>
                      </a:r>
                    </a:p>
                  </a:txBody>
                  <a:tcPr/>
                </a:tc>
                <a:extLst>
                  <a:ext uri="{0D108BD9-81ED-4DB2-BD59-A6C34878D82A}">
                    <a16:rowId xmlns:a16="http://schemas.microsoft.com/office/drawing/2014/main" val="4197398588"/>
                  </a:ext>
                </a:extLst>
              </a:tr>
              <a:tr h="398730">
                <a:tc>
                  <a:txBody>
                    <a:bodyPr/>
                    <a:lstStyle/>
                    <a:p>
                      <a:pPr algn="ctr"/>
                      <a:r>
                        <a:rPr lang="en-IN" dirty="0"/>
                        <a:t>8</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MODULES DESCRIPTIONS</a:t>
                      </a:r>
                    </a:p>
                  </a:txBody>
                  <a:tcPr/>
                </a:tc>
                <a:tc>
                  <a:txBody>
                    <a:bodyPr/>
                    <a:lstStyle/>
                    <a:p>
                      <a:pPr algn="ctr"/>
                      <a:r>
                        <a:rPr lang="en-IN" dirty="0"/>
                        <a:t>12</a:t>
                      </a:r>
                    </a:p>
                  </a:txBody>
                  <a:tcPr/>
                </a:tc>
                <a:extLst>
                  <a:ext uri="{0D108BD9-81ED-4DB2-BD59-A6C34878D82A}">
                    <a16:rowId xmlns:a16="http://schemas.microsoft.com/office/drawing/2014/main" val="708526668"/>
                  </a:ext>
                </a:extLst>
              </a:tr>
              <a:tr h="398730">
                <a:tc>
                  <a:txBody>
                    <a:bodyPr/>
                    <a:lstStyle/>
                    <a:p>
                      <a:pPr algn="ctr"/>
                      <a:r>
                        <a:rPr lang="en-IN" dirty="0"/>
                        <a:t>9</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dirty="0"/>
                        <a:t>PYTHON LIBRARIES</a:t>
                      </a:r>
                    </a:p>
                  </a:txBody>
                  <a:tcPr/>
                </a:tc>
                <a:tc>
                  <a:txBody>
                    <a:bodyPr/>
                    <a:lstStyle/>
                    <a:p>
                      <a:pPr algn="ctr"/>
                      <a:r>
                        <a:rPr lang="en-IN" dirty="0"/>
                        <a:t>13</a:t>
                      </a:r>
                    </a:p>
                  </a:txBody>
                  <a:tcPr/>
                </a:tc>
                <a:extLst>
                  <a:ext uri="{0D108BD9-81ED-4DB2-BD59-A6C34878D82A}">
                    <a16:rowId xmlns:a16="http://schemas.microsoft.com/office/drawing/2014/main" val="1397633157"/>
                  </a:ext>
                </a:extLst>
              </a:tr>
              <a:tr h="398730">
                <a:tc>
                  <a:txBody>
                    <a:bodyPr/>
                    <a:lstStyle/>
                    <a:p>
                      <a:pPr algn="ctr"/>
                      <a:r>
                        <a:rPr lang="en-IN" dirty="0"/>
                        <a:t>10</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SOURCE CODE IMAGES</a:t>
                      </a:r>
                    </a:p>
                  </a:txBody>
                  <a:tcPr/>
                </a:tc>
                <a:tc>
                  <a:txBody>
                    <a:bodyPr/>
                    <a:lstStyle/>
                    <a:p>
                      <a:pPr algn="ctr"/>
                      <a:r>
                        <a:rPr lang="en-IN" dirty="0"/>
                        <a:t>14</a:t>
                      </a:r>
                    </a:p>
                  </a:txBody>
                  <a:tcPr/>
                </a:tc>
                <a:extLst>
                  <a:ext uri="{0D108BD9-81ED-4DB2-BD59-A6C34878D82A}">
                    <a16:rowId xmlns:a16="http://schemas.microsoft.com/office/drawing/2014/main" val="2895861985"/>
                  </a:ext>
                </a:extLst>
              </a:tr>
              <a:tr h="398730">
                <a:tc>
                  <a:txBody>
                    <a:bodyPr/>
                    <a:lstStyle/>
                    <a:p>
                      <a:pPr algn="ctr"/>
                      <a:r>
                        <a:rPr lang="en-IN" dirty="0"/>
                        <a:t>11</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dirty="0"/>
                        <a:t>OUTPUT-DEMO OF THE PROJECT</a:t>
                      </a:r>
                    </a:p>
                  </a:txBody>
                  <a:tcPr/>
                </a:tc>
                <a:tc>
                  <a:txBody>
                    <a:bodyPr/>
                    <a:lstStyle/>
                    <a:p>
                      <a:pPr algn="ctr"/>
                      <a:r>
                        <a:rPr lang="en-IN" dirty="0"/>
                        <a:t>15</a:t>
                      </a:r>
                    </a:p>
                  </a:txBody>
                  <a:tcPr/>
                </a:tc>
                <a:extLst>
                  <a:ext uri="{0D108BD9-81ED-4DB2-BD59-A6C34878D82A}">
                    <a16:rowId xmlns:a16="http://schemas.microsoft.com/office/drawing/2014/main" val="1584997686"/>
                  </a:ext>
                </a:extLst>
              </a:tr>
              <a:tr h="398730">
                <a:tc>
                  <a:txBody>
                    <a:bodyPr/>
                    <a:lstStyle/>
                    <a:p>
                      <a:pPr algn="ctr"/>
                      <a:r>
                        <a:rPr lang="en-IN" dirty="0"/>
                        <a:t>12</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dirty="0"/>
                        <a:t>REFERENCES</a:t>
                      </a:r>
                    </a:p>
                  </a:txBody>
                  <a:tcPr/>
                </a:tc>
                <a:tc>
                  <a:txBody>
                    <a:bodyPr/>
                    <a:lstStyle/>
                    <a:p>
                      <a:pPr algn="ctr"/>
                      <a:r>
                        <a:rPr lang="en-IN" dirty="0"/>
                        <a:t>17</a:t>
                      </a:r>
                    </a:p>
                  </a:txBody>
                  <a:tcPr/>
                </a:tc>
                <a:extLst>
                  <a:ext uri="{0D108BD9-81ED-4DB2-BD59-A6C34878D82A}">
                    <a16:rowId xmlns:a16="http://schemas.microsoft.com/office/drawing/2014/main" val="1873759545"/>
                  </a:ext>
                </a:extLst>
              </a:tr>
            </a:tbl>
          </a:graphicData>
        </a:graphic>
      </p:graphicFrame>
      <p:pic>
        <p:nvPicPr>
          <p:cNvPr id="11" name="Google Shape;72;p14">
            <a:extLst>
              <a:ext uri="{FF2B5EF4-FFF2-40B4-BE49-F238E27FC236}">
                <a16:creationId xmlns:a16="http://schemas.microsoft.com/office/drawing/2014/main" id="{C7DC627B-9034-0845-BD09-455A9D3F1AAE}"/>
              </a:ext>
            </a:extLst>
          </p:cNvPr>
          <p:cNvPicPr preferRelativeResize="0"/>
          <p:nvPr/>
        </p:nvPicPr>
        <p:blipFill>
          <a:blip r:embed="rId2">
            <a:alphaModFix/>
          </a:blip>
          <a:stretch>
            <a:fillRect/>
          </a:stretch>
        </p:blipFill>
        <p:spPr>
          <a:xfrm>
            <a:off x="216512" y="302852"/>
            <a:ext cx="2881675" cy="973650"/>
          </a:xfrm>
          <a:prstGeom prst="rect">
            <a:avLst/>
          </a:prstGeom>
          <a:noFill/>
          <a:ln>
            <a:noFill/>
          </a:ln>
        </p:spPr>
      </p:pic>
    </p:spTree>
    <p:extLst>
      <p:ext uri="{BB962C8B-B14F-4D97-AF65-F5344CB8AC3E}">
        <p14:creationId xmlns:p14="http://schemas.microsoft.com/office/powerpoint/2010/main" val="2259821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7859" y="414629"/>
            <a:ext cx="5035505" cy="661333"/>
          </a:xfrm>
        </p:spPr>
        <p:txBody>
          <a:bodyPr>
            <a:normAutofit/>
          </a:bodyPr>
          <a:lstStyle/>
          <a:p>
            <a:pPr algn="ctr"/>
            <a:r>
              <a:rPr lang="en-US" sz="2800" b="1" u="sng" dirty="0"/>
              <a:t>Abstract</a:t>
            </a:r>
          </a:p>
        </p:txBody>
      </p:sp>
      <p:pic>
        <p:nvPicPr>
          <p:cNvPr id="8" name="Google Shape;72;p14">
            <a:extLst>
              <a:ext uri="{FF2B5EF4-FFF2-40B4-BE49-F238E27FC236}">
                <a16:creationId xmlns:a16="http://schemas.microsoft.com/office/drawing/2014/main" id="{DA0E0F68-2EF2-ADC4-A5CB-6F20ABC0CFBC}"/>
              </a:ext>
            </a:extLst>
          </p:cNvPr>
          <p:cNvPicPr preferRelativeResize="0"/>
          <p:nvPr/>
        </p:nvPicPr>
        <p:blipFill>
          <a:blip r:embed="rId3">
            <a:alphaModFix/>
          </a:blip>
          <a:stretch>
            <a:fillRect/>
          </a:stretch>
        </p:blipFill>
        <p:spPr>
          <a:xfrm>
            <a:off x="147275" y="275456"/>
            <a:ext cx="2881675" cy="973650"/>
          </a:xfrm>
          <a:prstGeom prst="rect">
            <a:avLst/>
          </a:prstGeom>
          <a:noFill/>
          <a:ln>
            <a:noFill/>
          </a:ln>
        </p:spPr>
      </p:pic>
      <p:sp>
        <p:nvSpPr>
          <p:cNvPr id="10" name="TextBox 9">
            <a:extLst>
              <a:ext uri="{FF2B5EF4-FFF2-40B4-BE49-F238E27FC236}">
                <a16:creationId xmlns:a16="http://schemas.microsoft.com/office/drawing/2014/main" id="{3FF95236-4F15-5DDA-688C-5176324FF11C}"/>
              </a:ext>
            </a:extLst>
          </p:cNvPr>
          <p:cNvSpPr txBox="1"/>
          <p:nvPr/>
        </p:nvSpPr>
        <p:spPr>
          <a:xfrm>
            <a:off x="361724" y="1215134"/>
            <a:ext cx="8420549" cy="5355312"/>
          </a:xfrm>
          <a:prstGeom prst="rect">
            <a:avLst/>
          </a:prstGeom>
          <a:noFill/>
        </p:spPr>
        <p:txBody>
          <a:bodyPr wrap="square">
            <a:spAutoFit/>
          </a:bodyPr>
          <a:lstStyle/>
          <a:p>
            <a:r>
              <a:rPr lang="en-US" sz="1800" dirty="0">
                <a:ea typeface="Tahoma" panose="020B0604030504040204" pitchFamily="34" charset="0"/>
                <a:cs typeface="Tahoma" panose="020B0604030504040204" pitchFamily="34" charset="0"/>
              </a:rPr>
              <a:t>In many automobile industries, predictive maintenance and insurance premium has become more important. It is hard to diagnose failure in advance in the vehicle industry because of the limited availability of sensors and some of the designing exertions. However, it looks feasible today to analyze sensor’s data along with machine learning techniques for failure prediction.</a:t>
            </a:r>
          </a:p>
          <a:p>
            <a:endParaRPr lang="en-US" sz="1800" dirty="0">
              <a:ea typeface="Tahoma" panose="020B0604030504040204" pitchFamily="34" charset="0"/>
              <a:cs typeface="Tahoma" panose="020B0604030504040204" pitchFamily="34" charset="0"/>
            </a:endParaRPr>
          </a:p>
          <a:p>
            <a:r>
              <a:rPr lang="en-US" sz="1800" dirty="0">
                <a:ea typeface="Tahoma" panose="020B0604030504040204" pitchFamily="34" charset="0"/>
                <a:cs typeface="Tahoma" panose="020B0604030504040204" pitchFamily="34" charset="0"/>
              </a:rPr>
              <a:t>The main objective is to find insurance premium of</a:t>
            </a:r>
            <a:r>
              <a:rPr lang="en-US" dirty="0">
                <a:ea typeface="Tahoma" panose="020B0604030504040204" pitchFamily="34" charset="0"/>
                <a:cs typeface="Tahoma" panose="020B0604030504040204" pitchFamily="34" charset="0"/>
              </a:rPr>
              <a:t> vehicles by analyzing the health condition of the vehicle. With modern techniques is all serveries are available online. Thanks to advancement in technology concepts or ideas once thought we impossible or laughed at are now possible in mere second. It was thought impossible to send letters in a day but now we can talk and see people who are far away. But even now some areas in our country relay on old methods to pay their insurance by approaching a agent. </a:t>
            </a:r>
          </a:p>
          <a:p>
            <a:endParaRPr lang="en-US" dirty="0">
              <a:ea typeface="Tahoma" panose="020B0604030504040204" pitchFamily="34" charset="0"/>
              <a:cs typeface="Tahoma" panose="020B0604030504040204" pitchFamily="34" charset="0"/>
            </a:endParaRPr>
          </a:p>
          <a:p>
            <a:r>
              <a:rPr lang="en-US" dirty="0">
                <a:ea typeface="Tahoma" panose="020B0604030504040204" pitchFamily="34" charset="0"/>
                <a:cs typeface="Tahoma" panose="020B0604030504040204" pitchFamily="34" charset="0"/>
              </a:rPr>
              <a:t>Not every person is creditable when it comes to money which is true as many people pay excessive insurance because of their lack of knowledge. One more problem is the repair cost that threaten people. When we find our vehicle with some issue we approach mechanics and what they tell us is final as we don’t know what the issue so we pay as much as demanded to get our vehicle back.</a:t>
            </a:r>
          </a:p>
          <a:p>
            <a:r>
              <a:rPr lang="en-US" dirty="0">
                <a:ea typeface="Tahoma" panose="020B0604030504040204" pitchFamily="34" charset="0"/>
                <a:cs typeface="Tahoma" panose="020B0604030504040204" pitchFamily="34" charset="0"/>
              </a:rPr>
              <a:t>But with this project we hope to solve these problems.</a:t>
            </a:r>
          </a:p>
        </p:txBody>
      </p:sp>
    </p:spTree>
    <p:extLst>
      <p:ext uri="{BB962C8B-B14F-4D97-AF65-F5344CB8AC3E}">
        <p14:creationId xmlns:p14="http://schemas.microsoft.com/office/powerpoint/2010/main" val="325180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72;p14">
            <a:extLst>
              <a:ext uri="{FF2B5EF4-FFF2-40B4-BE49-F238E27FC236}">
                <a16:creationId xmlns:a16="http://schemas.microsoft.com/office/drawing/2014/main" id="{AA24555F-977A-3F79-30C1-23B6F8EBFF17}"/>
              </a:ext>
            </a:extLst>
          </p:cNvPr>
          <p:cNvPicPr preferRelativeResize="0"/>
          <p:nvPr/>
        </p:nvPicPr>
        <p:blipFill>
          <a:blip r:embed="rId2">
            <a:alphaModFix/>
          </a:blip>
          <a:stretch>
            <a:fillRect/>
          </a:stretch>
        </p:blipFill>
        <p:spPr>
          <a:xfrm>
            <a:off x="147275" y="275456"/>
            <a:ext cx="2881675" cy="973650"/>
          </a:xfrm>
          <a:prstGeom prst="rect">
            <a:avLst/>
          </a:prstGeom>
          <a:noFill/>
          <a:ln>
            <a:noFill/>
          </a:ln>
        </p:spPr>
      </p:pic>
      <p:sp>
        <p:nvSpPr>
          <p:cNvPr id="7" name="TextBox 6">
            <a:extLst>
              <a:ext uri="{FF2B5EF4-FFF2-40B4-BE49-F238E27FC236}">
                <a16:creationId xmlns:a16="http://schemas.microsoft.com/office/drawing/2014/main" id="{F8580B82-CFA7-8957-0A2E-34EA79789443}"/>
              </a:ext>
            </a:extLst>
          </p:cNvPr>
          <p:cNvSpPr txBox="1"/>
          <p:nvPr/>
        </p:nvSpPr>
        <p:spPr>
          <a:xfrm>
            <a:off x="3429000" y="577615"/>
            <a:ext cx="4572000" cy="523220"/>
          </a:xfrm>
          <a:prstGeom prst="rect">
            <a:avLst/>
          </a:prstGeom>
          <a:noFill/>
        </p:spPr>
        <p:txBody>
          <a:bodyPr wrap="square">
            <a:spAutoFit/>
          </a:bodyPr>
          <a:lstStyle/>
          <a:p>
            <a:pPr algn="ctr"/>
            <a:r>
              <a:rPr lang="en-IN" sz="2800" b="1" u="sng" dirty="0">
                <a:latin typeface="+mj-lt"/>
              </a:rPr>
              <a:t>Introduction to project</a:t>
            </a:r>
          </a:p>
        </p:txBody>
      </p:sp>
      <p:sp>
        <p:nvSpPr>
          <p:cNvPr id="9" name="TextBox 8">
            <a:extLst>
              <a:ext uri="{FF2B5EF4-FFF2-40B4-BE49-F238E27FC236}">
                <a16:creationId xmlns:a16="http://schemas.microsoft.com/office/drawing/2014/main" id="{A04E402E-2DBC-DFDC-B99D-04B63E30B10E}"/>
              </a:ext>
            </a:extLst>
          </p:cNvPr>
          <p:cNvSpPr txBox="1"/>
          <p:nvPr/>
        </p:nvSpPr>
        <p:spPr>
          <a:xfrm>
            <a:off x="381000" y="1249106"/>
            <a:ext cx="8305800" cy="5393824"/>
          </a:xfrm>
          <a:prstGeom prst="rect">
            <a:avLst/>
          </a:prstGeom>
          <a:noFill/>
        </p:spPr>
        <p:txBody>
          <a:bodyPr wrap="square">
            <a:spAutoFit/>
          </a:bodyPr>
          <a:lstStyle/>
          <a:p>
            <a:pPr marL="297815" marR="813435" indent="-285750">
              <a:lnSpc>
                <a:spcPct val="114999"/>
              </a:lnSpc>
              <a:buFont typeface="Arial" panose="020B0604020202020204" pitchFamily="34" charset="0"/>
              <a:buChar char="•"/>
              <a:tabLst>
                <a:tab pos="401955" algn="l"/>
                <a:tab pos="402590" algn="l"/>
              </a:tabLst>
            </a:pPr>
            <a:r>
              <a:rPr lang="en-US" sz="2000" dirty="0">
                <a:ea typeface="Tahoma" panose="020B0604030504040204" pitchFamily="34" charset="0"/>
                <a:cs typeface="Tahoma" panose="020B0604030504040204" pitchFamily="34" charset="0"/>
              </a:rPr>
              <a:t>The rising need for people and independent retailers to access more affordable automotive parts for sale in the aftermarket offers an impetus to the market.</a:t>
            </a:r>
          </a:p>
          <a:p>
            <a:pPr marL="297815" marR="5080" indent="-285750">
              <a:lnSpc>
                <a:spcPct val="114999"/>
              </a:lnSpc>
              <a:buFont typeface="Arial" panose="020B0604020202020204" pitchFamily="34" charset="0"/>
              <a:buChar char="•"/>
              <a:tabLst>
                <a:tab pos="401955" algn="l"/>
                <a:tab pos="402590" algn="l"/>
              </a:tabLst>
            </a:pPr>
            <a:r>
              <a:rPr lang="en-US" sz="2000" i="0" dirty="0">
                <a:solidFill>
                  <a:srgbClr val="000000"/>
                </a:solidFill>
                <a:effectLst/>
                <a:ea typeface="Tahoma" panose="020B0604030504040204" pitchFamily="34" charset="0"/>
                <a:cs typeface="Tahoma" panose="020B0604030504040204" pitchFamily="34" charset="0"/>
              </a:rPr>
              <a:t>Vehicle systems are complex both in hardware and software so their maintenance is challenging.</a:t>
            </a:r>
          </a:p>
          <a:p>
            <a:pPr marL="297815" marR="5080" indent="-285750">
              <a:lnSpc>
                <a:spcPct val="114999"/>
              </a:lnSpc>
              <a:buFont typeface="Arial" panose="020B0604020202020204" pitchFamily="34" charset="0"/>
              <a:buChar char="•"/>
              <a:tabLst>
                <a:tab pos="401955" algn="l"/>
                <a:tab pos="402590" algn="l"/>
              </a:tabLst>
            </a:pPr>
            <a:r>
              <a:rPr lang="en-US" sz="2000" i="0" dirty="0">
                <a:solidFill>
                  <a:srgbClr val="000000"/>
                </a:solidFill>
                <a:effectLst/>
                <a:ea typeface="Tahoma" panose="020B0604030504040204" pitchFamily="34" charset="0"/>
                <a:cs typeface="Tahoma" panose="020B0604030504040204" pitchFamily="34" charset="0"/>
              </a:rPr>
              <a:t>Maintenance strategy being used in vehicle industry is normally reactive that results in reduction of lifetime of vehicle and also loss of money, thus predictive maintenance is required on this stage to overcome these issues.</a:t>
            </a:r>
          </a:p>
          <a:p>
            <a:pPr marL="297815" marR="5080" indent="-285750">
              <a:lnSpc>
                <a:spcPct val="114999"/>
              </a:lnSpc>
              <a:buFont typeface="Arial" panose="020B0604020202020204" pitchFamily="34" charset="0"/>
              <a:buChar char="•"/>
              <a:tabLst>
                <a:tab pos="401955" algn="l"/>
                <a:tab pos="402590" algn="l"/>
              </a:tabLst>
            </a:pPr>
            <a:r>
              <a:rPr lang="en-US" sz="2000" dirty="0">
                <a:ea typeface="Tahoma" panose="020B0604030504040204" pitchFamily="34" charset="0"/>
                <a:cs typeface="Tahoma" panose="020B0604030504040204" pitchFamily="34" charset="0"/>
              </a:rPr>
              <a:t>This ongoing trend of pure-play retailers deploying e-commerce strategies is projected to fuel the growth of the market.</a:t>
            </a:r>
          </a:p>
          <a:p>
            <a:pPr marL="297815" marR="5080" indent="-285750">
              <a:lnSpc>
                <a:spcPct val="114999"/>
              </a:lnSpc>
              <a:buFont typeface="Arial" panose="020B0604020202020204" pitchFamily="34" charset="0"/>
              <a:buChar char="•"/>
              <a:tabLst>
                <a:tab pos="401955" algn="l"/>
                <a:tab pos="402590" algn="l"/>
              </a:tabLst>
            </a:pPr>
            <a:r>
              <a:rPr lang="en-US" sz="2000" dirty="0">
                <a:ea typeface="Tahoma" panose="020B0604030504040204" pitchFamily="34" charset="0"/>
                <a:cs typeface="Tahoma" panose="020B0604030504040204" pitchFamily="34" charset="0"/>
              </a:rPr>
              <a:t>Insurance payment is becoming a big burden to people who bought a new vehicle or second hand. Agents make premiums high that is scaring the owners to take insurance.</a:t>
            </a:r>
          </a:p>
          <a:p>
            <a:pPr marL="297815" marR="5080" indent="-285750">
              <a:lnSpc>
                <a:spcPct val="114999"/>
              </a:lnSpc>
              <a:buFont typeface="Arial" panose="020B0604020202020204" pitchFamily="34" charset="0"/>
              <a:buChar char="•"/>
              <a:tabLst>
                <a:tab pos="401955" algn="l"/>
                <a:tab pos="402590" algn="l"/>
              </a:tabLst>
            </a:pPr>
            <a:r>
              <a:rPr lang="en-US" sz="2000" dirty="0">
                <a:ea typeface="Tahoma" panose="020B0604030504040204" pitchFamily="34" charset="0"/>
                <a:cs typeface="Tahoma" panose="020B0604030504040204" pitchFamily="34" charset="0"/>
              </a:rPr>
              <a:t>Not only the reasons stated are irrelevant sometimes the technical terms these agents makes owner pay high amounts.</a:t>
            </a:r>
          </a:p>
        </p:txBody>
      </p:sp>
    </p:spTree>
    <p:extLst>
      <p:ext uri="{BB962C8B-B14F-4D97-AF65-F5344CB8AC3E}">
        <p14:creationId xmlns:p14="http://schemas.microsoft.com/office/powerpoint/2010/main" val="2242746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72;p14">
            <a:extLst>
              <a:ext uri="{FF2B5EF4-FFF2-40B4-BE49-F238E27FC236}">
                <a16:creationId xmlns:a16="http://schemas.microsoft.com/office/drawing/2014/main" id="{1065B4DE-8DAF-31D5-75DD-593AA891F71C}"/>
              </a:ext>
            </a:extLst>
          </p:cNvPr>
          <p:cNvPicPr preferRelativeResize="0"/>
          <p:nvPr/>
        </p:nvPicPr>
        <p:blipFill>
          <a:blip r:embed="rId2">
            <a:alphaModFix/>
          </a:blip>
          <a:stretch>
            <a:fillRect/>
          </a:stretch>
        </p:blipFill>
        <p:spPr>
          <a:xfrm>
            <a:off x="147275" y="275456"/>
            <a:ext cx="2881675" cy="973650"/>
          </a:xfrm>
          <a:prstGeom prst="rect">
            <a:avLst/>
          </a:prstGeom>
          <a:noFill/>
          <a:ln>
            <a:noFill/>
          </a:ln>
        </p:spPr>
      </p:pic>
      <p:sp>
        <p:nvSpPr>
          <p:cNvPr id="7" name="TextBox 6">
            <a:extLst>
              <a:ext uri="{FF2B5EF4-FFF2-40B4-BE49-F238E27FC236}">
                <a16:creationId xmlns:a16="http://schemas.microsoft.com/office/drawing/2014/main" id="{D9834909-43A1-2FBF-E2CF-7C238800D6E7}"/>
              </a:ext>
            </a:extLst>
          </p:cNvPr>
          <p:cNvSpPr txBox="1"/>
          <p:nvPr/>
        </p:nvSpPr>
        <p:spPr>
          <a:xfrm>
            <a:off x="3257552" y="381000"/>
            <a:ext cx="5715000" cy="523220"/>
          </a:xfrm>
          <a:prstGeom prst="rect">
            <a:avLst/>
          </a:prstGeom>
          <a:noFill/>
        </p:spPr>
        <p:txBody>
          <a:bodyPr wrap="square">
            <a:spAutoFit/>
          </a:bodyPr>
          <a:lstStyle/>
          <a:p>
            <a:pPr algn="ctr"/>
            <a:r>
              <a:rPr lang="en-IN" sz="2800" b="1" u="sng" dirty="0">
                <a:latin typeface="+mj-lt"/>
              </a:rPr>
              <a:t>Problem statement &amp; objective</a:t>
            </a:r>
          </a:p>
        </p:txBody>
      </p:sp>
      <p:sp>
        <p:nvSpPr>
          <p:cNvPr id="9" name="TextBox 8">
            <a:extLst>
              <a:ext uri="{FF2B5EF4-FFF2-40B4-BE49-F238E27FC236}">
                <a16:creationId xmlns:a16="http://schemas.microsoft.com/office/drawing/2014/main" id="{2FBEA1C9-5AA6-42AF-0543-C854D48BCBB1}"/>
              </a:ext>
            </a:extLst>
          </p:cNvPr>
          <p:cNvSpPr txBox="1"/>
          <p:nvPr/>
        </p:nvSpPr>
        <p:spPr>
          <a:xfrm>
            <a:off x="380999" y="1524000"/>
            <a:ext cx="8382001" cy="5035353"/>
          </a:xfrm>
          <a:prstGeom prst="rect">
            <a:avLst/>
          </a:prstGeom>
          <a:noFill/>
        </p:spPr>
        <p:txBody>
          <a:bodyPr wrap="square">
            <a:spAutoFit/>
          </a:bodyPr>
          <a:lstStyle/>
          <a:p>
            <a:pPr marL="12065" marR="1022350">
              <a:lnSpc>
                <a:spcPct val="150000"/>
              </a:lnSpc>
              <a:tabLst>
                <a:tab pos="401955" algn="l"/>
                <a:tab pos="402590" algn="l"/>
              </a:tabLst>
            </a:pPr>
            <a:r>
              <a:rPr lang="en-US" sz="1800" b="1" u="sng" spc="-15" dirty="0">
                <a:latin typeface="Tahoma"/>
                <a:cs typeface="Tahoma"/>
              </a:rPr>
              <a:t>Problem Statement:</a:t>
            </a:r>
          </a:p>
          <a:p>
            <a:pPr marL="12065" marR="1022350" algn="just">
              <a:lnSpc>
                <a:spcPct val="150000"/>
              </a:lnSpc>
              <a:tabLst>
                <a:tab pos="401955" algn="l"/>
                <a:tab pos="402590" algn="l"/>
              </a:tabLst>
            </a:pPr>
            <a:r>
              <a:rPr lang="en-US" spc="-15" dirty="0">
                <a:latin typeface="Tahoma"/>
                <a:cs typeface="Tahoma"/>
              </a:rPr>
              <a:t> </a:t>
            </a:r>
            <a:r>
              <a:rPr lang="en-US" spc="-15" dirty="0">
                <a:cs typeface="Tahoma"/>
              </a:rPr>
              <a:t>A system that analysis data of vehicles like its age, distance travelled, millage, strokes, Horse power and other attributes to determine the heath of the vehicle. Which helps the system estimate the insurance amount and provides a value that is affordable by the owner of the vehicle.</a:t>
            </a:r>
          </a:p>
          <a:p>
            <a:pPr marL="12065" marR="1022350" algn="just">
              <a:lnSpc>
                <a:spcPct val="150000"/>
              </a:lnSpc>
              <a:tabLst>
                <a:tab pos="401955" algn="l"/>
                <a:tab pos="402590" algn="l"/>
              </a:tabLst>
            </a:pPr>
            <a:endParaRPr lang="en-US" spc="-15" dirty="0">
              <a:latin typeface="Tahoma"/>
              <a:cs typeface="Tahoma"/>
            </a:endParaRPr>
          </a:p>
          <a:p>
            <a:pPr marL="12065" marR="1022350" algn="just">
              <a:lnSpc>
                <a:spcPct val="150000"/>
              </a:lnSpc>
              <a:tabLst>
                <a:tab pos="401955" algn="l"/>
                <a:tab pos="402590" algn="l"/>
              </a:tabLst>
            </a:pPr>
            <a:r>
              <a:rPr lang="en-US" b="1" u="sng" spc="-15" dirty="0">
                <a:latin typeface="Tahoma"/>
                <a:cs typeface="Tahoma"/>
              </a:rPr>
              <a:t>Objective:</a:t>
            </a:r>
          </a:p>
          <a:p>
            <a:pPr marL="297815" marR="1022350" indent="-285750" algn="just">
              <a:lnSpc>
                <a:spcPct val="150000"/>
              </a:lnSpc>
              <a:buFont typeface="Arial" panose="020B0604020202020204" pitchFamily="34" charset="0"/>
              <a:buChar char="•"/>
              <a:tabLst>
                <a:tab pos="401955" algn="l"/>
                <a:tab pos="402590" algn="l"/>
              </a:tabLst>
            </a:pPr>
            <a:r>
              <a:rPr lang="en-US" sz="1800" spc="-15" dirty="0">
                <a:cs typeface="Tahoma"/>
              </a:rPr>
              <a:t>Analyze the information such as distance travelled since the time it is active, years used, model of car, and other factors to estimate the insurance amount to be paid and give maintenance alerts if required.</a:t>
            </a:r>
          </a:p>
          <a:p>
            <a:pPr marL="297815" marR="5080" indent="-285750" algn="just">
              <a:lnSpc>
                <a:spcPct val="150000"/>
              </a:lnSpc>
              <a:buFont typeface="Arial" panose="020B0604020202020204" pitchFamily="34" charset="0"/>
              <a:buChar char="•"/>
              <a:tabLst>
                <a:tab pos="401955" algn="l"/>
                <a:tab pos="402590" algn="l"/>
              </a:tabLst>
            </a:pPr>
            <a:r>
              <a:rPr lang="en-US" sz="1800" spc="-10" dirty="0">
                <a:cs typeface="Tahoma"/>
              </a:rPr>
              <a:t>Estimate the insurance claim that would be received by the customer due to faults caused by some unforeseen circumstances.</a:t>
            </a:r>
          </a:p>
        </p:txBody>
      </p:sp>
    </p:spTree>
    <p:extLst>
      <p:ext uri="{BB962C8B-B14F-4D97-AF65-F5344CB8AC3E}">
        <p14:creationId xmlns:p14="http://schemas.microsoft.com/office/powerpoint/2010/main" val="2022260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79551C-74FE-EFC6-78B7-2556D4242A9D}"/>
              </a:ext>
            </a:extLst>
          </p:cNvPr>
          <p:cNvSpPr txBox="1"/>
          <p:nvPr/>
        </p:nvSpPr>
        <p:spPr>
          <a:xfrm>
            <a:off x="3505200" y="500671"/>
            <a:ext cx="4572000" cy="523220"/>
          </a:xfrm>
          <a:prstGeom prst="rect">
            <a:avLst/>
          </a:prstGeom>
          <a:noFill/>
        </p:spPr>
        <p:txBody>
          <a:bodyPr wrap="square">
            <a:spAutoFit/>
          </a:bodyPr>
          <a:lstStyle/>
          <a:p>
            <a:pPr algn="ctr"/>
            <a:r>
              <a:rPr lang="en-IN" sz="2800" b="1" u="sng" dirty="0">
                <a:latin typeface="+mj-lt"/>
              </a:rPr>
              <a:t>Proposed Methodology</a:t>
            </a:r>
          </a:p>
        </p:txBody>
      </p:sp>
      <p:pic>
        <p:nvPicPr>
          <p:cNvPr id="6" name="Google Shape;72;p14">
            <a:extLst>
              <a:ext uri="{FF2B5EF4-FFF2-40B4-BE49-F238E27FC236}">
                <a16:creationId xmlns:a16="http://schemas.microsoft.com/office/drawing/2014/main" id="{2CA35E7B-0E50-49F8-1951-92831E35BB2D}"/>
              </a:ext>
            </a:extLst>
          </p:cNvPr>
          <p:cNvPicPr preferRelativeResize="0"/>
          <p:nvPr/>
        </p:nvPicPr>
        <p:blipFill>
          <a:blip r:embed="rId2">
            <a:alphaModFix/>
          </a:blip>
          <a:stretch>
            <a:fillRect/>
          </a:stretch>
        </p:blipFill>
        <p:spPr>
          <a:xfrm>
            <a:off x="147275" y="275456"/>
            <a:ext cx="2881675" cy="973650"/>
          </a:xfrm>
          <a:prstGeom prst="rect">
            <a:avLst/>
          </a:prstGeom>
          <a:noFill/>
          <a:ln>
            <a:noFill/>
          </a:ln>
        </p:spPr>
      </p:pic>
      <p:sp>
        <p:nvSpPr>
          <p:cNvPr id="8" name="TextBox 7">
            <a:extLst>
              <a:ext uri="{FF2B5EF4-FFF2-40B4-BE49-F238E27FC236}">
                <a16:creationId xmlns:a16="http://schemas.microsoft.com/office/drawing/2014/main" id="{DACFBEFE-66A9-26D0-D870-4487B4FC8F09}"/>
              </a:ext>
            </a:extLst>
          </p:cNvPr>
          <p:cNvSpPr txBox="1"/>
          <p:nvPr/>
        </p:nvSpPr>
        <p:spPr>
          <a:xfrm>
            <a:off x="228600" y="1379577"/>
            <a:ext cx="8229600" cy="5247590"/>
          </a:xfrm>
          <a:prstGeom prst="rect">
            <a:avLst/>
          </a:prstGeom>
          <a:noFill/>
        </p:spPr>
        <p:txBody>
          <a:bodyPr wrap="square">
            <a:spAutoFit/>
          </a:bodyPr>
          <a:lstStyle/>
          <a:p>
            <a:pPr marL="285750" indent="-285750">
              <a:buFont typeface="Arial" panose="020B0604020202020204" pitchFamily="34" charset="0"/>
              <a:buChar char="•"/>
            </a:pPr>
            <a:r>
              <a:rPr lang="en-IN" sz="1700" dirty="0"/>
              <a:t>Prediction of value for insurance of the vehicle can be done by analysing the data using different algorithms. For the predictor we are using basic algorithm namely Liner Regression with the data given like milage, distance travelled, horse power and many other details. These data are plotted against each other and a value is decided according to the vehicle health.</a:t>
            </a:r>
          </a:p>
          <a:p>
            <a:pPr marL="285750" indent="-285750">
              <a:buFont typeface="Arial" panose="020B0604020202020204" pitchFamily="34" charset="0"/>
              <a:buChar char="•"/>
            </a:pPr>
            <a:r>
              <a:rPr lang="en-US" sz="1700" b="0" i="0" dirty="0">
                <a:effectLst/>
                <a:latin typeface="-apple-system"/>
              </a:rPr>
              <a:t>This application is used to predict a possible price for vehicle to be paid for their insurance . This uses the data across 20k plus data samples and provide the insurance amount that could be paid.</a:t>
            </a:r>
            <a:endParaRPr lang="en-IN" sz="1700" dirty="0"/>
          </a:p>
          <a:p>
            <a:pPr marL="285750" indent="-285750">
              <a:buFont typeface="Arial" panose="020B0604020202020204" pitchFamily="34" charset="0"/>
              <a:buChar char="•"/>
            </a:pPr>
            <a:r>
              <a:rPr lang="en-US" sz="1700" b="0" i="0" dirty="0">
                <a:effectLst/>
                <a:latin typeface="-apple-system"/>
              </a:rPr>
              <a:t>This application is used to predict a possible price for a second hand motorbike in India. The application uses a preloaded bikes data which spans across 30k plus data samples of used bikes and their prices of sell, 23 companies and multiple features to decide the best possible price.</a:t>
            </a:r>
          </a:p>
          <a:p>
            <a:pPr marL="285750" indent="-285750">
              <a:buFont typeface="Arial" panose="020B0604020202020204" pitchFamily="34" charset="0"/>
              <a:buChar char="•"/>
            </a:pPr>
            <a:r>
              <a:rPr lang="en-US" sz="1700" dirty="0">
                <a:latin typeface="-apple-system"/>
              </a:rPr>
              <a:t>Even though the value could not be 100% accurate the value is estimated after a through analysis of data and could be improved with new algorithm introduced and training the machine with new data.</a:t>
            </a:r>
            <a:endParaRPr lang="en-US" sz="1700" b="0" i="0" dirty="0">
              <a:effectLst/>
              <a:latin typeface="-apple-system"/>
            </a:endParaRPr>
          </a:p>
          <a:p>
            <a:pPr algn="ctr"/>
            <a:r>
              <a:rPr lang="en-US" sz="2000" b="1" i="0" u="sng" dirty="0">
                <a:effectLst/>
                <a:latin typeface="-apple-system"/>
              </a:rPr>
              <a:t>Tech Stack</a:t>
            </a:r>
            <a:r>
              <a:rPr lang="en-US" sz="2000" b="1" i="0" dirty="0">
                <a:effectLst/>
                <a:latin typeface="-apple-system"/>
              </a:rPr>
              <a:t>:</a:t>
            </a:r>
          </a:p>
          <a:p>
            <a:pPr algn="ctr">
              <a:buFont typeface="Arial" panose="020B0604020202020204" pitchFamily="34" charset="0"/>
              <a:buChar char="•"/>
            </a:pPr>
            <a:r>
              <a:rPr lang="en-US" sz="2000" b="0" i="0" dirty="0">
                <a:effectLst/>
                <a:latin typeface="-apple-system"/>
              </a:rPr>
              <a:t> Python 3.9 for logic development</a:t>
            </a:r>
          </a:p>
          <a:p>
            <a:pPr algn="ctr">
              <a:buFont typeface="Arial" panose="020B0604020202020204" pitchFamily="34" charset="0"/>
              <a:buChar char="•"/>
            </a:pPr>
            <a:r>
              <a:rPr lang="en-US" sz="2000" b="0" i="0" dirty="0">
                <a:effectLst/>
                <a:latin typeface="-apple-system"/>
              </a:rPr>
              <a:t> </a:t>
            </a:r>
            <a:r>
              <a:rPr lang="en-US" sz="2000" b="0" i="0" dirty="0" err="1">
                <a:effectLst/>
                <a:latin typeface="-apple-system"/>
              </a:rPr>
              <a:t>Streamlit</a:t>
            </a:r>
            <a:r>
              <a:rPr lang="en-US" sz="2000" b="0" i="0" dirty="0">
                <a:effectLst/>
                <a:latin typeface="-apple-system"/>
              </a:rPr>
              <a:t> for UI integrations</a:t>
            </a:r>
          </a:p>
          <a:p>
            <a:pPr algn="ctr">
              <a:buFont typeface="Arial" panose="020B0604020202020204" pitchFamily="34" charset="0"/>
              <a:buChar char="•"/>
            </a:pPr>
            <a:r>
              <a:rPr lang="en-US" sz="2000" b="0" i="0" dirty="0">
                <a:effectLst/>
                <a:latin typeface="-apple-system"/>
              </a:rPr>
              <a:t> share.streamlit.io for hosting</a:t>
            </a:r>
          </a:p>
        </p:txBody>
      </p:sp>
    </p:spTree>
    <p:extLst>
      <p:ext uri="{BB962C8B-B14F-4D97-AF65-F5344CB8AC3E}">
        <p14:creationId xmlns:p14="http://schemas.microsoft.com/office/powerpoint/2010/main" val="1974927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72;p14">
            <a:extLst>
              <a:ext uri="{FF2B5EF4-FFF2-40B4-BE49-F238E27FC236}">
                <a16:creationId xmlns:a16="http://schemas.microsoft.com/office/drawing/2014/main" id="{0967E911-3BCA-E1AA-D8D4-16BB3F2F368D}"/>
              </a:ext>
            </a:extLst>
          </p:cNvPr>
          <p:cNvPicPr preferRelativeResize="0"/>
          <p:nvPr/>
        </p:nvPicPr>
        <p:blipFill>
          <a:blip r:embed="rId2">
            <a:alphaModFix/>
          </a:blip>
          <a:stretch>
            <a:fillRect/>
          </a:stretch>
        </p:blipFill>
        <p:spPr>
          <a:xfrm>
            <a:off x="147275" y="275456"/>
            <a:ext cx="2881675" cy="973650"/>
          </a:xfrm>
          <a:prstGeom prst="rect">
            <a:avLst/>
          </a:prstGeom>
          <a:noFill/>
          <a:ln>
            <a:noFill/>
          </a:ln>
        </p:spPr>
      </p:pic>
      <p:sp>
        <p:nvSpPr>
          <p:cNvPr id="7" name="TextBox 6">
            <a:extLst>
              <a:ext uri="{FF2B5EF4-FFF2-40B4-BE49-F238E27FC236}">
                <a16:creationId xmlns:a16="http://schemas.microsoft.com/office/drawing/2014/main" id="{FBC94B3B-D06E-9D78-F83B-0CE6943CA759}"/>
              </a:ext>
            </a:extLst>
          </p:cNvPr>
          <p:cNvSpPr txBox="1"/>
          <p:nvPr/>
        </p:nvSpPr>
        <p:spPr>
          <a:xfrm>
            <a:off x="3581400" y="500671"/>
            <a:ext cx="4572000" cy="523220"/>
          </a:xfrm>
          <a:prstGeom prst="rect">
            <a:avLst/>
          </a:prstGeom>
          <a:noFill/>
        </p:spPr>
        <p:txBody>
          <a:bodyPr wrap="square">
            <a:spAutoFit/>
          </a:bodyPr>
          <a:lstStyle/>
          <a:p>
            <a:pPr algn="ctr"/>
            <a:r>
              <a:rPr lang="en-IN" sz="2800" b="1" u="sng" dirty="0">
                <a:latin typeface="+mj-lt"/>
              </a:rPr>
              <a:t>Architecture/block diagram </a:t>
            </a:r>
          </a:p>
        </p:txBody>
      </p:sp>
      <p:pic>
        <p:nvPicPr>
          <p:cNvPr id="6" name="Picture 5">
            <a:extLst>
              <a:ext uri="{FF2B5EF4-FFF2-40B4-BE49-F238E27FC236}">
                <a16:creationId xmlns:a16="http://schemas.microsoft.com/office/drawing/2014/main" id="{E5A3611E-4A97-9827-FEEF-7BD7E87259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353455"/>
            <a:ext cx="4343400" cy="5366841"/>
          </a:xfrm>
          <a:prstGeom prst="rect">
            <a:avLst/>
          </a:prstGeom>
        </p:spPr>
      </p:pic>
      <p:pic>
        <p:nvPicPr>
          <p:cNvPr id="8" name="Picture 7">
            <a:extLst>
              <a:ext uri="{FF2B5EF4-FFF2-40B4-BE49-F238E27FC236}">
                <a16:creationId xmlns:a16="http://schemas.microsoft.com/office/drawing/2014/main" id="{040C4A3A-6C30-055C-3AF1-BFC73DEED599}"/>
              </a:ext>
            </a:extLst>
          </p:cNvPr>
          <p:cNvPicPr>
            <a:picLocks noChangeAspect="1"/>
          </p:cNvPicPr>
          <p:nvPr/>
        </p:nvPicPr>
        <p:blipFill>
          <a:blip r:embed="rId4"/>
          <a:stretch>
            <a:fillRect/>
          </a:stretch>
        </p:blipFill>
        <p:spPr>
          <a:xfrm>
            <a:off x="289162" y="1880121"/>
            <a:ext cx="4078008" cy="793614"/>
          </a:xfrm>
          <a:prstGeom prst="rect">
            <a:avLst/>
          </a:prstGeom>
        </p:spPr>
      </p:pic>
      <p:pic>
        <p:nvPicPr>
          <p:cNvPr id="10" name="Picture 9">
            <a:extLst>
              <a:ext uri="{FF2B5EF4-FFF2-40B4-BE49-F238E27FC236}">
                <a16:creationId xmlns:a16="http://schemas.microsoft.com/office/drawing/2014/main" id="{A8E31A37-C424-341E-4B0A-773E42541942}"/>
              </a:ext>
            </a:extLst>
          </p:cNvPr>
          <p:cNvPicPr>
            <a:picLocks noChangeAspect="1"/>
          </p:cNvPicPr>
          <p:nvPr/>
        </p:nvPicPr>
        <p:blipFill>
          <a:blip r:embed="rId5"/>
          <a:stretch>
            <a:fillRect/>
          </a:stretch>
        </p:blipFill>
        <p:spPr>
          <a:xfrm>
            <a:off x="75540" y="3036448"/>
            <a:ext cx="4505251" cy="3320881"/>
          </a:xfrm>
          <a:prstGeom prst="rect">
            <a:avLst/>
          </a:prstGeom>
        </p:spPr>
      </p:pic>
    </p:spTree>
    <p:extLst>
      <p:ext uri="{BB962C8B-B14F-4D97-AF65-F5344CB8AC3E}">
        <p14:creationId xmlns:p14="http://schemas.microsoft.com/office/powerpoint/2010/main" val="2648172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72;p14">
            <a:extLst>
              <a:ext uri="{FF2B5EF4-FFF2-40B4-BE49-F238E27FC236}">
                <a16:creationId xmlns:a16="http://schemas.microsoft.com/office/drawing/2014/main" id="{3EDD3BCE-7455-AA2A-F4D3-4069B13339BE}"/>
              </a:ext>
            </a:extLst>
          </p:cNvPr>
          <p:cNvPicPr preferRelativeResize="0"/>
          <p:nvPr/>
        </p:nvPicPr>
        <p:blipFill>
          <a:blip r:embed="rId2">
            <a:alphaModFix/>
          </a:blip>
          <a:stretch>
            <a:fillRect/>
          </a:stretch>
        </p:blipFill>
        <p:spPr>
          <a:xfrm>
            <a:off x="147275" y="275456"/>
            <a:ext cx="2881675" cy="973650"/>
          </a:xfrm>
          <a:prstGeom prst="rect">
            <a:avLst/>
          </a:prstGeom>
          <a:noFill/>
          <a:ln>
            <a:noFill/>
          </a:ln>
        </p:spPr>
      </p:pic>
      <p:sp>
        <p:nvSpPr>
          <p:cNvPr id="7" name="TextBox 6">
            <a:extLst>
              <a:ext uri="{FF2B5EF4-FFF2-40B4-BE49-F238E27FC236}">
                <a16:creationId xmlns:a16="http://schemas.microsoft.com/office/drawing/2014/main" id="{CD2FFCA7-61B2-80EF-5BED-AF6F2BC87CC3}"/>
              </a:ext>
            </a:extLst>
          </p:cNvPr>
          <p:cNvSpPr txBox="1"/>
          <p:nvPr/>
        </p:nvSpPr>
        <p:spPr>
          <a:xfrm>
            <a:off x="3276600" y="577615"/>
            <a:ext cx="4572000" cy="523220"/>
          </a:xfrm>
          <a:prstGeom prst="rect">
            <a:avLst/>
          </a:prstGeom>
          <a:noFill/>
        </p:spPr>
        <p:txBody>
          <a:bodyPr wrap="square">
            <a:spAutoFit/>
          </a:bodyPr>
          <a:lstStyle/>
          <a:p>
            <a:pPr algn="ctr"/>
            <a:r>
              <a:rPr lang="en-IN" sz="2800" b="1" u="sng" dirty="0">
                <a:latin typeface="+mj-lt"/>
              </a:rPr>
              <a:t>Algorithm Used</a:t>
            </a:r>
          </a:p>
        </p:txBody>
      </p:sp>
      <p:sp>
        <p:nvSpPr>
          <p:cNvPr id="9" name="TextBox 8">
            <a:extLst>
              <a:ext uri="{FF2B5EF4-FFF2-40B4-BE49-F238E27FC236}">
                <a16:creationId xmlns:a16="http://schemas.microsoft.com/office/drawing/2014/main" id="{D032168C-E479-2EDB-4E6A-C10249F13E6A}"/>
              </a:ext>
            </a:extLst>
          </p:cNvPr>
          <p:cNvSpPr txBox="1"/>
          <p:nvPr/>
        </p:nvSpPr>
        <p:spPr>
          <a:xfrm>
            <a:off x="200025" y="1540571"/>
            <a:ext cx="8715375" cy="5339923"/>
          </a:xfrm>
          <a:prstGeom prst="rect">
            <a:avLst/>
          </a:prstGeom>
          <a:noFill/>
        </p:spPr>
        <p:txBody>
          <a:bodyPr wrap="square">
            <a:spAutoFit/>
          </a:bodyPr>
          <a:lstStyle/>
          <a:p>
            <a:pPr marL="285750" indent="-285750">
              <a:buFont typeface="Arial" panose="020B0604020202020204" pitchFamily="34" charset="0"/>
              <a:buChar char="•"/>
            </a:pPr>
            <a:r>
              <a:rPr lang="en-US" altLang="en-US" b="1" dirty="0">
                <a:latin typeface="Tahoma" panose="020B0604030504040204" pitchFamily="34" charset="0"/>
                <a:ea typeface="Tahoma" panose="020B0604030504040204" pitchFamily="34" charset="0"/>
                <a:cs typeface="Tahoma" panose="020B0604030504040204" pitchFamily="34" charset="0"/>
              </a:rPr>
              <a:t>Liner Regression </a:t>
            </a:r>
          </a:p>
          <a:p>
            <a:pPr marL="742950" lvl="1" indent="-285750">
              <a:buFont typeface="Wingdings" panose="05000000000000000000" pitchFamily="2" charset="2"/>
              <a:buChar char="v"/>
            </a:pPr>
            <a:r>
              <a:rPr lang="en-US" sz="1900" b="1" i="0" dirty="0">
                <a:effectLst/>
                <a:latin typeface="urw-din"/>
              </a:rPr>
              <a:t>Linear Regression</a:t>
            </a:r>
            <a:r>
              <a:rPr lang="en-US" sz="1900" b="0" i="0" dirty="0">
                <a:effectLst/>
                <a:latin typeface="urw-din"/>
              </a:rPr>
              <a:t> is a machine learning algorithm based on </a:t>
            </a:r>
            <a:r>
              <a:rPr lang="en-US" sz="1900" b="1" i="0" dirty="0">
                <a:effectLst/>
                <a:latin typeface="urw-din"/>
              </a:rPr>
              <a:t>supervised learning</a:t>
            </a:r>
            <a:r>
              <a:rPr lang="en-US" sz="1900" b="0" i="0" dirty="0">
                <a:effectLst/>
                <a:latin typeface="urw-din"/>
              </a:rPr>
              <a:t>. It performs a </a:t>
            </a:r>
            <a:r>
              <a:rPr lang="en-US" sz="1900" b="1" i="0" dirty="0">
                <a:effectLst/>
                <a:latin typeface="urw-din"/>
              </a:rPr>
              <a:t>regression task</a:t>
            </a:r>
            <a:r>
              <a:rPr lang="en-US" sz="1900" b="0" i="0" dirty="0">
                <a:effectLst/>
                <a:latin typeface="urw-din"/>
              </a:rPr>
              <a:t>. Regression models a target prediction value based on independent variables. </a:t>
            </a:r>
          </a:p>
          <a:p>
            <a:pPr marL="742950" lvl="1" indent="-285750">
              <a:buFont typeface="Wingdings" panose="05000000000000000000" pitchFamily="2" charset="2"/>
              <a:buChar char="v"/>
            </a:pPr>
            <a:r>
              <a:rPr lang="en-US" sz="1900" b="0" i="0" dirty="0">
                <a:effectLst/>
                <a:latin typeface="urw-din"/>
              </a:rPr>
              <a:t>Linear regression performs the task to predict a dependent variable value (y) based on a given independent variable (x). So, this regression technique finds out a linear relationship between x (input) and y(output). </a:t>
            </a:r>
          </a:p>
          <a:p>
            <a:pPr lvl="1" fontAlgn="base"/>
            <a:r>
              <a:rPr lang="en-US" sz="1900" b="0" i="0" dirty="0">
                <a:effectLst/>
                <a:latin typeface="urw-din"/>
              </a:rPr>
              <a:t>While training the model we are given :</a:t>
            </a:r>
            <a:br>
              <a:rPr lang="en-US" sz="1900" b="0" i="0" dirty="0">
                <a:effectLst/>
                <a:latin typeface="urw-din"/>
              </a:rPr>
            </a:br>
            <a:r>
              <a:rPr lang="en-US" sz="1900" b="1" i="0" dirty="0">
                <a:effectLst/>
                <a:latin typeface="urw-din"/>
              </a:rPr>
              <a:t>x:</a:t>
            </a:r>
            <a:r>
              <a:rPr lang="en-US" sz="1900" b="0" i="0" dirty="0">
                <a:effectLst/>
                <a:latin typeface="urw-din"/>
              </a:rPr>
              <a:t> input training data (univariate – one input variable(parameter))</a:t>
            </a:r>
            <a:br>
              <a:rPr lang="en-US" sz="1900" b="0" i="0" dirty="0">
                <a:effectLst/>
                <a:latin typeface="urw-din"/>
              </a:rPr>
            </a:br>
            <a:r>
              <a:rPr lang="en-US" sz="1900" b="1" i="0" dirty="0">
                <a:effectLst/>
                <a:latin typeface="urw-din"/>
              </a:rPr>
              <a:t>y:</a:t>
            </a:r>
            <a:r>
              <a:rPr lang="en-US" sz="1900" b="0" i="0" dirty="0">
                <a:effectLst/>
                <a:latin typeface="urw-din"/>
              </a:rPr>
              <a:t> labels to data (supervised learning)</a:t>
            </a:r>
          </a:p>
          <a:p>
            <a:pPr lvl="1" fontAlgn="base"/>
            <a:r>
              <a:rPr lang="en-US" sz="1900" b="0" i="0" dirty="0">
                <a:effectLst/>
                <a:latin typeface="urw-din"/>
              </a:rPr>
              <a:t>When training the model – it fits the best line to predict the value of y for a given value of x. The model gets the best regression fit line by finding the best θ</a:t>
            </a:r>
            <a:r>
              <a:rPr lang="en-US" sz="1900" b="0" i="0" baseline="-25000" dirty="0">
                <a:effectLst/>
                <a:latin typeface="urw-din"/>
              </a:rPr>
              <a:t>1</a:t>
            </a:r>
            <a:r>
              <a:rPr lang="en-US" sz="1900" b="0" i="0" dirty="0">
                <a:effectLst/>
                <a:latin typeface="urw-din"/>
              </a:rPr>
              <a:t> and θ</a:t>
            </a:r>
            <a:r>
              <a:rPr lang="en-US" sz="1900" b="0" i="0" baseline="-25000" dirty="0">
                <a:effectLst/>
                <a:latin typeface="urw-din"/>
              </a:rPr>
              <a:t>2</a:t>
            </a:r>
            <a:r>
              <a:rPr lang="en-US" sz="1900" b="0" i="0" dirty="0">
                <a:effectLst/>
                <a:latin typeface="urw-din"/>
              </a:rPr>
              <a:t> values.</a:t>
            </a:r>
            <a:br>
              <a:rPr lang="en-US" sz="1900" b="0" i="0" dirty="0">
                <a:effectLst/>
                <a:latin typeface="urw-din"/>
              </a:rPr>
            </a:br>
            <a:r>
              <a:rPr lang="en-US" sz="1900" b="1" i="0" dirty="0">
                <a:effectLst/>
                <a:latin typeface="urw-din"/>
              </a:rPr>
              <a:t>θ</a:t>
            </a:r>
            <a:r>
              <a:rPr lang="en-US" sz="1900" b="1" i="0" baseline="-25000" dirty="0">
                <a:effectLst/>
                <a:latin typeface="urw-din"/>
              </a:rPr>
              <a:t>1</a:t>
            </a:r>
            <a:r>
              <a:rPr lang="en-US" sz="1900" b="1" i="0" dirty="0">
                <a:effectLst/>
                <a:latin typeface="urw-din"/>
              </a:rPr>
              <a:t>:</a:t>
            </a:r>
            <a:r>
              <a:rPr lang="en-US" sz="1900" b="0" i="0" dirty="0">
                <a:effectLst/>
                <a:latin typeface="urw-din"/>
              </a:rPr>
              <a:t> intercept</a:t>
            </a:r>
            <a:br>
              <a:rPr lang="en-US" sz="1900" b="0" i="0" dirty="0">
                <a:effectLst/>
                <a:latin typeface="urw-din"/>
              </a:rPr>
            </a:br>
            <a:r>
              <a:rPr lang="en-US" sz="1900" b="1" i="0" dirty="0">
                <a:effectLst/>
                <a:latin typeface="urw-din"/>
              </a:rPr>
              <a:t>θ</a:t>
            </a:r>
            <a:r>
              <a:rPr lang="en-US" sz="1900" b="1" i="0" baseline="-25000" dirty="0">
                <a:effectLst/>
                <a:latin typeface="urw-din"/>
              </a:rPr>
              <a:t>2</a:t>
            </a:r>
            <a:r>
              <a:rPr lang="en-US" sz="1900" b="1" i="0" dirty="0">
                <a:effectLst/>
                <a:latin typeface="urw-din"/>
              </a:rPr>
              <a:t>:</a:t>
            </a:r>
            <a:r>
              <a:rPr lang="en-US" sz="1900" b="0" i="0" dirty="0">
                <a:effectLst/>
                <a:latin typeface="urw-din"/>
              </a:rPr>
              <a:t> coefficient of x</a:t>
            </a:r>
          </a:p>
          <a:p>
            <a:pPr lvl="1" fontAlgn="base"/>
            <a:r>
              <a:rPr lang="en-US" sz="1900" b="0" i="0" dirty="0">
                <a:effectLst/>
                <a:latin typeface="urw-din"/>
              </a:rPr>
              <a:t>Once we find the best θ</a:t>
            </a:r>
            <a:r>
              <a:rPr lang="en-US" sz="1900" b="0" i="0" baseline="-25000" dirty="0">
                <a:effectLst/>
                <a:latin typeface="urw-din"/>
              </a:rPr>
              <a:t>1</a:t>
            </a:r>
            <a:r>
              <a:rPr lang="en-US" sz="1900" b="0" i="0" dirty="0">
                <a:effectLst/>
                <a:latin typeface="urw-din"/>
              </a:rPr>
              <a:t> and θ</a:t>
            </a:r>
            <a:r>
              <a:rPr lang="en-US" sz="1900" b="0" i="0" baseline="-25000" dirty="0">
                <a:effectLst/>
                <a:latin typeface="urw-din"/>
              </a:rPr>
              <a:t>2</a:t>
            </a:r>
            <a:r>
              <a:rPr lang="en-US" sz="1900" b="0" i="0" dirty="0">
                <a:effectLst/>
                <a:latin typeface="urw-din"/>
              </a:rPr>
              <a:t> values, we get the best fit line. So when we are finally using our model for prediction, it will predict the value of y for the input value of x.</a:t>
            </a:r>
          </a:p>
        </p:txBody>
      </p:sp>
      <p:pic>
        <p:nvPicPr>
          <p:cNvPr id="10" name="Picture 9">
            <a:extLst>
              <a:ext uri="{FF2B5EF4-FFF2-40B4-BE49-F238E27FC236}">
                <a16:creationId xmlns:a16="http://schemas.microsoft.com/office/drawing/2014/main" id="{87DBBAA6-8FBF-D1DD-3024-4BC21EA44B00}"/>
              </a:ext>
            </a:extLst>
          </p:cNvPr>
          <p:cNvPicPr>
            <a:picLocks noChangeAspect="1"/>
          </p:cNvPicPr>
          <p:nvPr/>
        </p:nvPicPr>
        <p:blipFill>
          <a:blip r:embed="rId3"/>
          <a:stretch>
            <a:fillRect/>
          </a:stretch>
        </p:blipFill>
        <p:spPr>
          <a:xfrm>
            <a:off x="4876800" y="5181600"/>
            <a:ext cx="2783682" cy="571299"/>
          </a:xfrm>
          <a:prstGeom prst="rect">
            <a:avLst/>
          </a:prstGeom>
        </p:spPr>
      </p:pic>
    </p:spTree>
    <p:extLst>
      <p:ext uri="{BB962C8B-B14F-4D97-AF65-F5344CB8AC3E}">
        <p14:creationId xmlns:p14="http://schemas.microsoft.com/office/powerpoint/2010/main" val="3002938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82E860E-33C4-E8EC-CCDB-33984A988CE5}"/>
              </a:ext>
            </a:extLst>
          </p:cNvPr>
          <p:cNvSpPr txBox="1"/>
          <p:nvPr/>
        </p:nvSpPr>
        <p:spPr>
          <a:xfrm>
            <a:off x="3829052" y="307191"/>
            <a:ext cx="4572000" cy="95410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800" b="1" u="sng" dirty="0">
                <a:latin typeface="+mj-lt"/>
              </a:rPr>
              <a:t>Intermediate Result And Discussion</a:t>
            </a:r>
          </a:p>
        </p:txBody>
      </p:sp>
      <p:pic>
        <p:nvPicPr>
          <p:cNvPr id="7" name="Google Shape;72;p14">
            <a:extLst>
              <a:ext uri="{FF2B5EF4-FFF2-40B4-BE49-F238E27FC236}">
                <a16:creationId xmlns:a16="http://schemas.microsoft.com/office/drawing/2014/main" id="{3093E69C-BA7A-4220-87F7-F2A61F755694}"/>
              </a:ext>
            </a:extLst>
          </p:cNvPr>
          <p:cNvPicPr preferRelativeResize="0"/>
          <p:nvPr/>
        </p:nvPicPr>
        <p:blipFill>
          <a:blip r:embed="rId2">
            <a:alphaModFix/>
          </a:blip>
          <a:stretch>
            <a:fillRect/>
          </a:stretch>
        </p:blipFill>
        <p:spPr>
          <a:xfrm>
            <a:off x="147275" y="275456"/>
            <a:ext cx="2881675" cy="973650"/>
          </a:xfrm>
          <a:prstGeom prst="rect">
            <a:avLst/>
          </a:prstGeom>
          <a:noFill/>
          <a:ln>
            <a:noFill/>
          </a:ln>
        </p:spPr>
      </p:pic>
      <p:sp>
        <p:nvSpPr>
          <p:cNvPr id="8" name="TextBox 7">
            <a:extLst>
              <a:ext uri="{FF2B5EF4-FFF2-40B4-BE49-F238E27FC236}">
                <a16:creationId xmlns:a16="http://schemas.microsoft.com/office/drawing/2014/main" id="{81CE8B7C-E23E-1517-D37D-5FC507097E16}"/>
              </a:ext>
            </a:extLst>
          </p:cNvPr>
          <p:cNvSpPr txBox="1"/>
          <p:nvPr/>
        </p:nvSpPr>
        <p:spPr>
          <a:xfrm>
            <a:off x="381000" y="1737360"/>
            <a:ext cx="8534400" cy="4801314"/>
          </a:xfrm>
          <a:prstGeom prst="rect">
            <a:avLst/>
          </a:prstGeom>
          <a:noFill/>
        </p:spPr>
        <p:txBody>
          <a:bodyPr wrap="square" rtlCol="0">
            <a:spAutoFit/>
          </a:bodyPr>
          <a:lstStyle/>
          <a:p>
            <a:pPr marL="285750" indent="-285750">
              <a:buFont typeface="Arial" panose="020B0604020202020204" pitchFamily="34" charset="0"/>
              <a:buChar char="•"/>
            </a:pPr>
            <a:r>
              <a:rPr lang="en-IN" dirty="0"/>
              <a:t>Dataset for this project was a big problem as many sites did not have a proper arranged data sets for analysis. Some had name and value while some had distance travelled but no other attribute. In this process there was a point where insufficient data was available for the machine to work, wherein prediction was not as expected.</a:t>
            </a:r>
          </a:p>
          <a:p>
            <a:pPr marL="285750" indent="-285750">
              <a:buFont typeface="Arial" panose="020B0604020202020204" pitchFamily="34" charset="0"/>
              <a:buChar char="•"/>
            </a:pPr>
            <a:r>
              <a:rPr lang="en-IN" dirty="0"/>
              <a:t>After  a thorough search and time we could find a dataset that could work with the analysis where it had horse power, milage, stokes and other import elements for a vehicle’s engine</a:t>
            </a:r>
          </a:p>
          <a:p>
            <a:pPr marL="285750" indent="-285750">
              <a:buFont typeface="Arial" panose="020B0604020202020204" pitchFamily="34" charset="0"/>
              <a:buChar char="•"/>
            </a:pPr>
            <a:r>
              <a:rPr lang="en-IN" dirty="0"/>
              <a:t>When it comes to results, with the use of liner regression it was always possible for negative values which implies they are not worth insurance or the vehicle health was bad.</a:t>
            </a:r>
          </a:p>
          <a:p>
            <a:pPr marL="285750" indent="-285750">
              <a:buFont typeface="Arial" panose="020B0604020202020204" pitchFamily="34" charset="0"/>
              <a:buChar char="•"/>
            </a:pPr>
            <a:r>
              <a:rPr lang="en-IN" dirty="0"/>
              <a:t>These cases occurred frequently during the data analysis and prediction time which took a lot of time</a:t>
            </a:r>
          </a:p>
          <a:p>
            <a:pPr marL="285750" indent="-285750">
              <a:buFont typeface="Arial" panose="020B0604020202020204" pitchFamily="34" charset="0"/>
              <a:buChar char="•"/>
            </a:pPr>
            <a:r>
              <a:rPr lang="en-IN" dirty="0"/>
              <a:t>Even though the value is predicted, with more data on vehicle and previous insurance issued for those along with extra attributes can really help the machine provide more accurate value</a:t>
            </a:r>
          </a:p>
          <a:p>
            <a:pPr>
              <a:buFont typeface="Arial" panose="020B0604020202020204" pitchFamily="34" charset="0"/>
              <a:buChar char="•"/>
            </a:pPr>
            <a:r>
              <a:rPr lang="en-IN" dirty="0"/>
              <a:t>    Also use of other algorithms like SVM, logistic regression, Decision tree, KNN, K-mean</a:t>
            </a:r>
          </a:p>
          <a:p>
            <a:r>
              <a:rPr lang="en-IN" dirty="0"/>
              <a:t>     can provide more insights on these prediction of value.</a:t>
            </a:r>
            <a:endParaRPr lang="en-IN" b="0" i="0" dirty="0">
              <a:solidFill>
                <a:srgbClr val="51565E"/>
              </a:solidFill>
              <a:effectLst/>
              <a:latin typeface="Roboto" panose="02000000000000000000" pitchFamily="2" charset="0"/>
            </a:endParaRPr>
          </a:p>
        </p:txBody>
      </p:sp>
    </p:spTree>
    <p:extLst>
      <p:ext uri="{BB962C8B-B14F-4D97-AF65-F5344CB8AC3E}">
        <p14:creationId xmlns:p14="http://schemas.microsoft.com/office/powerpoint/2010/main" val="1351603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4A1878-B839-58E4-C837-D3DB016932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1706" y="663833"/>
            <a:ext cx="5322265" cy="2971800"/>
          </a:xfrm>
          <a:prstGeom prst="rect">
            <a:avLst/>
          </a:prstGeom>
        </p:spPr>
      </p:pic>
      <p:sp>
        <p:nvSpPr>
          <p:cNvPr id="8" name="TextBox 7">
            <a:extLst>
              <a:ext uri="{FF2B5EF4-FFF2-40B4-BE49-F238E27FC236}">
                <a16:creationId xmlns:a16="http://schemas.microsoft.com/office/drawing/2014/main" id="{8E54AE85-EC0C-2EA3-3498-7B883B0F3723}"/>
              </a:ext>
            </a:extLst>
          </p:cNvPr>
          <p:cNvSpPr txBox="1"/>
          <p:nvPr/>
        </p:nvSpPr>
        <p:spPr>
          <a:xfrm>
            <a:off x="6500944" y="1965067"/>
            <a:ext cx="2674432" cy="369332"/>
          </a:xfrm>
          <a:prstGeom prst="rect">
            <a:avLst/>
          </a:prstGeom>
          <a:noFill/>
        </p:spPr>
        <p:txBody>
          <a:bodyPr wrap="square" rtlCol="0">
            <a:spAutoFit/>
          </a:bodyPr>
          <a:lstStyle/>
          <a:p>
            <a:pPr algn="ctr"/>
            <a:r>
              <a:rPr lang="en-IN" b="1" u="sng" dirty="0"/>
              <a:t>Home page and Dataset</a:t>
            </a:r>
          </a:p>
        </p:txBody>
      </p:sp>
      <p:pic>
        <p:nvPicPr>
          <p:cNvPr id="10" name="Picture 9">
            <a:extLst>
              <a:ext uri="{FF2B5EF4-FFF2-40B4-BE49-F238E27FC236}">
                <a16:creationId xmlns:a16="http://schemas.microsoft.com/office/drawing/2014/main" id="{092F1724-0FE9-D0E9-D19E-193285B29E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2400" y="3774111"/>
            <a:ext cx="4960432" cy="2855289"/>
          </a:xfrm>
          <a:prstGeom prst="rect">
            <a:avLst/>
          </a:prstGeom>
        </p:spPr>
      </p:pic>
      <p:cxnSp>
        <p:nvCxnSpPr>
          <p:cNvPr id="13" name="Straight Arrow Connector 12">
            <a:extLst>
              <a:ext uri="{FF2B5EF4-FFF2-40B4-BE49-F238E27FC236}">
                <a16:creationId xmlns:a16="http://schemas.microsoft.com/office/drawing/2014/main" id="{8001B62C-BC0B-AC88-75C4-50D0056CC257}"/>
              </a:ext>
            </a:extLst>
          </p:cNvPr>
          <p:cNvCxnSpPr>
            <a:cxnSpLocks/>
            <a:stCxn id="8" idx="1"/>
            <a:endCxn id="6" idx="3"/>
          </p:cNvCxnSpPr>
          <p:nvPr/>
        </p:nvCxnSpPr>
        <p:spPr>
          <a:xfrm flipH="1">
            <a:off x="5523971" y="2149733"/>
            <a:ext cx="97697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06EEB077-9D2B-0850-AD20-6DF7D1006E68}"/>
              </a:ext>
            </a:extLst>
          </p:cNvPr>
          <p:cNvSpPr txBox="1"/>
          <p:nvPr/>
        </p:nvSpPr>
        <p:spPr>
          <a:xfrm>
            <a:off x="-76200" y="5017090"/>
            <a:ext cx="2895600" cy="369332"/>
          </a:xfrm>
          <a:prstGeom prst="rect">
            <a:avLst/>
          </a:prstGeom>
          <a:noFill/>
        </p:spPr>
        <p:txBody>
          <a:bodyPr wrap="square" rtlCol="0">
            <a:spAutoFit/>
          </a:bodyPr>
          <a:lstStyle/>
          <a:p>
            <a:r>
              <a:rPr lang="en-IN" b="1" u="sng" dirty="0"/>
              <a:t>Data Visualization of dataset</a:t>
            </a:r>
          </a:p>
        </p:txBody>
      </p:sp>
      <p:cxnSp>
        <p:nvCxnSpPr>
          <p:cNvPr id="20" name="Straight Arrow Connector 19">
            <a:extLst>
              <a:ext uri="{FF2B5EF4-FFF2-40B4-BE49-F238E27FC236}">
                <a16:creationId xmlns:a16="http://schemas.microsoft.com/office/drawing/2014/main" id="{B07B134F-9883-314E-DF79-C071C49574EA}"/>
              </a:ext>
            </a:extLst>
          </p:cNvPr>
          <p:cNvCxnSpPr>
            <a:cxnSpLocks/>
            <a:stCxn id="18" idx="3"/>
            <a:endCxn id="10" idx="1"/>
          </p:cNvCxnSpPr>
          <p:nvPr/>
        </p:nvCxnSpPr>
        <p:spPr>
          <a:xfrm>
            <a:off x="2819400" y="5201756"/>
            <a:ext cx="11430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7D5B1657-F544-CE89-AE4D-DAB66F64341A}"/>
              </a:ext>
            </a:extLst>
          </p:cNvPr>
          <p:cNvSpPr txBox="1"/>
          <p:nvPr/>
        </p:nvSpPr>
        <p:spPr>
          <a:xfrm>
            <a:off x="4267200" y="95945"/>
            <a:ext cx="5029200" cy="646331"/>
          </a:xfrm>
          <a:prstGeom prst="rect">
            <a:avLst/>
          </a:prstGeom>
          <a:noFill/>
        </p:spPr>
        <p:txBody>
          <a:bodyPr wrap="square" rtlCol="0">
            <a:spAutoFit/>
          </a:bodyPr>
          <a:lstStyle/>
          <a:p>
            <a:pPr algn="ctr"/>
            <a:r>
              <a:rPr lang="en-IN" b="1" dirty="0">
                <a:latin typeface="+mj-lt"/>
              </a:rPr>
              <a:t>Links - </a:t>
            </a:r>
            <a:r>
              <a:rPr lang="en-IN" dirty="0">
                <a:hlinkClick r:id="rId4"/>
              </a:rPr>
              <a:t>Second hand Bike value Predictor</a:t>
            </a:r>
            <a:endParaRPr lang="en-IN" dirty="0"/>
          </a:p>
          <a:p>
            <a:pPr algn="ctr"/>
            <a:r>
              <a:rPr lang="en-IN" dirty="0">
                <a:hlinkClick r:id="rId5"/>
              </a:rPr>
              <a:t>GitHub</a:t>
            </a:r>
            <a:r>
              <a:rPr lang="en-IN" dirty="0"/>
              <a:t> </a:t>
            </a:r>
          </a:p>
        </p:txBody>
      </p:sp>
    </p:spTree>
    <p:extLst>
      <p:ext uri="{BB962C8B-B14F-4D97-AF65-F5344CB8AC3E}">
        <p14:creationId xmlns:p14="http://schemas.microsoft.com/office/powerpoint/2010/main" val="3374744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D5D42E-3C39-393F-1E67-C77F35DDF0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94" y="141006"/>
            <a:ext cx="5511476" cy="3184900"/>
          </a:xfrm>
          <a:prstGeom prst="rect">
            <a:avLst/>
          </a:prstGeom>
        </p:spPr>
      </p:pic>
      <p:pic>
        <p:nvPicPr>
          <p:cNvPr id="8" name="Picture 7">
            <a:extLst>
              <a:ext uri="{FF2B5EF4-FFF2-40B4-BE49-F238E27FC236}">
                <a16:creationId xmlns:a16="http://schemas.microsoft.com/office/drawing/2014/main" id="{194EA5EC-F755-BCD9-0212-9301796F1B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1729" y="3505200"/>
            <a:ext cx="5248217" cy="3184900"/>
          </a:xfrm>
          <a:prstGeom prst="rect">
            <a:avLst/>
          </a:prstGeom>
        </p:spPr>
      </p:pic>
      <p:sp>
        <p:nvSpPr>
          <p:cNvPr id="9" name="TextBox 8">
            <a:extLst>
              <a:ext uri="{FF2B5EF4-FFF2-40B4-BE49-F238E27FC236}">
                <a16:creationId xmlns:a16="http://schemas.microsoft.com/office/drawing/2014/main" id="{A614EBC7-8912-51E3-FC59-E9D6A703A2CB}"/>
              </a:ext>
            </a:extLst>
          </p:cNvPr>
          <p:cNvSpPr txBox="1"/>
          <p:nvPr/>
        </p:nvSpPr>
        <p:spPr>
          <a:xfrm>
            <a:off x="6629400" y="1548790"/>
            <a:ext cx="2590800" cy="369332"/>
          </a:xfrm>
          <a:prstGeom prst="rect">
            <a:avLst/>
          </a:prstGeom>
          <a:noFill/>
        </p:spPr>
        <p:txBody>
          <a:bodyPr wrap="square" rtlCol="0">
            <a:spAutoFit/>
          </a:bodyPr>
          <a:lstStyle/>
          <a:p>
            <a:r>
              <a:rPr lang="en-IN" b="1" u="sng" dirty="0"/>
              <a:t>Data Entry for analysis</a:t>
            </a:r>
          </a:p>
        </p:txBody>
      </p:sp>
      <p:sp>
        <p:nvSpPr>
          <p:cNvPr id="10" name="TextBox 9">
            <a:extLst>
              <a:ext uri="{FF2B5EF4-FFF2-40B4-BE49-F238E27FC236}">
                <a16:creationId xmlns:a16="http://schemas.microsoft.com/office/drawing/2014/main" id="{DF278459-5792-B1EB-8DAE-268E74EA7B7C}"/>
              </a:ext>
            </a:extLst>
          </p:cNvPr>
          <p:cNvSpPr txBox="1"/>
          <p:nvPr/>
        </p:nvSpPr>
        <p:spPr>
          <a:xfrm>
            <a:off x="457200" y="4912984"/>
            <a:ext cx="1676400" cy="369332"/>
          </a:xfrm>
          <a:prstGeom prst="rect">
            <a:avLst/>
          </a:prstGeom>
          <a:noFill/>
        </p:spPr>
        <p:txBody>
          <a:bodyPr wrap="square" rtlCol="0">
            <a:spAutoFit/>
          </a:bodyPr>
          <a:lstStyle/>
          <a:p>
            <a:r>
              <a:rPr lang="en-IN" b="1" u="sng" dirty="0"/>
              <a:t>Price prediction</a:t>
            </a:r>
          </a:p>
        </p:txBody>
      </p:sp>
      <p:cxnSp>
        <p:nvCxnSpPr>
          <p:cNvPr id="12" name="Straight Arrow Connector 11">
            <a:extLst>
              <a:ext uri="{FF2B5EF4-FFF2-40B4-BE49-F238E27FC236}">
                <a16:creationId xmlns:a16="http://schemas.microsoft.com/office/drawing/2014/main" id="{4EA22628-C107-066E-2FA1-74692F5DDFD9}"/>
              </a:ext>
            </a:extLst>
          </p:cNvPr>
          <p:cNvCxnSpPr>
            <a:stCxn id="9" idx="1"/>
            <a:endCxn id="6" idx="3"/>
          </p:cNvCxnSpPr>
          <p:nvPr/>
        </p:nvCxnSpPr>
        <p:spPr>
          <a:xfrm flipH="1">
            <a:off x="5663470" y="1733456"/>
            <a:ext cx="9659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B603CCE-DE43-1AE4-D72E-73BF27641CA3}"/>
              </a:ext>
            </a:extLst>
          </p:cNvPr>
          <p:cNvCxnSpPr>
            <a:stCxn id="10" idx="3"/>
            <a:endCxn id="8" idx="1"/>
          </p:cNvCxnSpPr>
          <p:nvPr/>
        </p:nvCxnSpPr>
        <p:spPr>
          <a:xfrm>
            <a:off x="2133600" y="5097650"/>
            <a:ext cx="1638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4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DAC303-2851-0735-2FC1-57A1C7AD06FE}"/>
              </a:ext>
            </a:extLst>
          </p:cNvPr>
          <p:cNvSpPr txBox="1"/>
          <p:nvPr/>
        </p:nvSpPr>
        <p:spPr>
          <a:xfrm>
            <a:off x="4038600" y="454712"/>
            <a:ext cx="4572000" cy="523220"/>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2800" b="1" u="sng" dirty="0">
                <a:latin typeface="+mj-lt"/>
              </a:rPr>
              <a:t>Modules Descriptions</a:t>
            </a:r>
          </a:p>
        </p:txBody>
      </p:sp>
      <p:pic>
        <p:nvPicPr>
          <p:cNvPr id="6" name="Picture 5">
            <a:extLst>
              <a:ext uri="{FF2B5EF4-FFF2-40B4-BE49-F238E27FC236}">
                <a16:creationId xmlns:a16="http://schemas.microsoft.com/office/drawing/2014/main" id="{CBC030F2-4411-0A7F-E1AB-C20230E8E647}"/>
              </a:ext>
            </a:extLst>
          </p:cNvPr>
          <p:cNvPicPr>
            <a:picLocks noChangeAspect="1"/>
          </p:cNvPicPr>
          <p:nvPr/>
        </p:nvPicPr>
        <p:blipFill>
          <a:blip r:embed="rId2"/>
          <a:stretch>
            <a:fillRect/>
          </a:stretch>
        </p:blipFill>
        <p:spPr>
          <a:xfrm>
            <a:off x="304800" y="228600"/>
            <a:ext cx="2883658" cy="975445"/>
          </a:xfrm>
          <a:prstGeom prst="rect">
            <a:avLst/>
          </a:prstGeom>
        </p:spPr>
      </p:pic>
      <p:sp>
        <p:nvSpPr>
          <p:cNvPr id="7" name="TextBox 6">
            <a:extLst>
              <a:ext uri="{FF2B5EF4-FFF2-40B4-BE49-F238E27FC236}">
                <a16:creationId xmlns:a16="http://schemas.microsoft.com/office/drawing/2014/main" id="{7F234433-8634-1FED-0A7C-AB6CE8F8FC19}"/>
              </a:ext>
            </a:extLst>
          </p:cNvPr>
          <p:cNvSpPr txBox="1"/>
          <p:nvPr/>
        </p:nvSpPr>
        <p:spPr>
          <a:xfrm>
            <a:off x="342900" y="1582340"/>
            <a:ext cx="8458200" cy="4801314"/>
          </a:xfrm>
          <a:prstGeom prst="rect">
            <a:avLst/>
          </a:prstGeom>
          <a:noFill/>
        </p:spPr>
        <p:txBody>
          <a:bodyPr wrap="square" rtlCol="0">
            <a:spAutoFit/>
          </a:bodyPr>
          <a:lstStyle/>
          <a:p>
            <a:r>
              <a:rPr lang="en-IN" b="1" u="sng" dirty="0"/>
              <a:t>Module 1</a:t>
            </a:r>
            <a:r>
              <a:rPr lang="en-IN" b="1" dirty="0"/>
              <a:t>: Data Integration</a:t>
            </a:r>
          </a:p>
          <a:p>
            <a:r>
              <a:rPr lang="en-IN" b="1" dirty="0"/>
              <a:t>	</a:t>
            </a:r>
            <a:r>
              <a:rPr lang="en-IN" dirty="0"/>
              <a:t>Data from a excel is integrated to the machine for data analysis. This data is then pre-processed using </a:t>
            </a:r>
            <a:r>
              <a:rPr lang="en-IN" dirty="0" err="1"/>
              <a:t>LabelEncoder</a:t>
            </a:r>
            <a:r>
              <a:rPr lang="en-IN" dirty="0"/>
              <a:t>(). Data of vehicles with attributes like engine volume, Mileage, Distance travelled, Horse Power, Stokes, Airbags, Bike company are integrated in to representing as a graph. </a:t>
            </a:r>
          </a:p>
          <a:p>
            <a:endParaRPr lang="en-IN" dirty="0"/>
          </a:p>
          <a:p>
            <a:r>
              <a:rPr lang="en-IN" b="1" u="sng" dirty="0"/>
              <a:t>Module 2</a:t>
            </a:r>
            <a:r>
              <a:rPr lang="en-IN" dirty="0"/>
              <a:t>: </a:t>
            </a:r>
            <a:r>
              <a:rPr lang="en-IN" b="1" dirty="0"/>
              <a:t>ML Algorithm</a:t>
            </a:r>
          </a:p>
          <a:p>
            <a:r>
              <a:rPr lang="en-IN" b="1" dirty="0"/>
              <a:t>	</a:t>
            </a:r>
            <a:r>
              <a:rPr lang="en-IN" dirty="0"/>
              <a:t>Using python libraries we integrate ML algorithms like SVM, Liner regression and many others to analysis the data. In this project we used only liner but other algorithms are also possible in which we can predict the values but making a slight change in the source code.</a:t>
            </a:r>
          </a:p>
          <a:p>
            <a:endParaRPr lang="en-IN" dirty="0"/>
          </a:p>
          <a:p>
            <a:r>
              <a:rPr lang="en-IN" b="1" u="sng" dirty="0"/>
              <a:t>Module 3</a:t>
            </a:r>
            <a:r>
              <a:rPr lang="en-IN" dirty="0"/>
              <a:t>: </a:t>
            </a:r>
            <a:r>
              <a:rPr lang="en-IN" b="1" dirty="0"/>
              <a:t>Value prediction and visualization </a:t>
            </a:r>
          </a:p>
          <a:p>
            <a:r>
              <a:rPr lang="en-IN" b="1" dirty="0"/>
              <a:t>	</a:t>
            </a:r>
            <a:r>
              <a:rPr lang="en-IN" dirty="0"/>
              <a:t>In this module we have data visualization when in graphs are being introduced to show relation between the attributes but plotting the graphs using matplotlib library. And using ML we predict the value to be paid as well. This prediction is selected by analysis of the data in the CSV files we integrated.</a:t>
            </a:r>
          </a:p>
        </p:txBody>
      </p:sp>
    </p:spTree>
    <p:extLst>
      <p:ext uri="{BB962C8B-B14F-4D97-AF65-F5344CB8AC3E}">
        <p14:creationId xmlns:p14="http://schemas.microsoft.com/office/powerpoint/2010/main" val="963775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72;p14">
            <a:extLst>
              <a:ext uri="{FF2B5EF4-FFF2-40B4-BE49-F238E27FC236}">
                <a16:creationId xmlns:a16="http://schemas.microsoft.com/office/drawing/2014/main" id="{DF8BFA9E-C744-DD14-C7F2-995C130A4B1D}"/>
              </a:ext>
            </a:extLst>
          </p:cNvPr>
          <p:cNvPicPr preferRelativeResize="0"/>
          <p:nvPr/>
        </p:nvPicPr>
        <p:blipFill>
          <a:blip r:embed="rId2">
            <a:alphaModFix/>
          </a:blip>
          <a:stretch>
            <a:fillRect/>
          </a:stretch>
        </p:blipFill>
        <p:spPr>
          <a:xfrm>
            <a:off x="147275" y="275456"/>
            <a:ext cx="2881675" cy="973650"/>
          </a:xfrm>
          <a:prstGeom prst="rect">
            <a:avLst/>
          </a:prstGeom>
          <a:noFill/>
          <a:ln>
            <a:noFill/>
          </a:ln>
        </p:spPr>
      </p:pic>
      <p:sp>
        <p:nvSpPr>
          <p:cNvPr id="8" name="TextBox 7">
            <a:extLst>
              <a:ext uri="{FF2B5EF4-FFF2-40B4-BE49-F238E27FC236}">
                <a16:creationId xmlns:a16="http://schemas.microsoft.com/office/drawing/2014/main" id="{6F406CF3-5844-2811-63A2-F401029C6E36}"/>
              </a:ext>
            </a:extLst>
          </p:cNvPr>
          <p:cNvSpPr txBox="1"/>
          <p:nvPr/>
        </p:nvSpPr>
        <p:spPr>
          <a:xfrm>
            <a:off x="609600" y="1524000"/>
            <a:ext cx="8001000" cy="4801314"/>
          </a:xfrm>
          <a:prstGeom prst="rect">
            <a:avLst/>
          </a:prstGeom>
          <a:noFill/>
        </p:spPr>
        <p:txBody>
          <a:bodyPr wrap="square" rtlCol="0">
            <a:spAutoFit/>
          </a:bodyPr>
          <a:lstStyle/>
          <a:p>
            <a:r>
              <a:rPr lang="en-IN" dirty="0"/>
              <a:t>For the prediction of insurance amount and second hand vehicle cost we can use Machine learning algorithms. For this to apply on data sets we need python libraries  like </a:t>
            </a:r>
          </a:p>
          <a:p>
            <a:pPr marL="742950" lvl="1" indent="-285750">
              <a:buFont typeface="Arial" panose="020B0604020202020204" pitchFamily="34" charset="0"/>
              <a:buChar char="•"/>
            </a:pPr>
            <a:r>
              <a:rPr lang="en-US" b="1" i="0" dirty="0" err="1">
                <a:effectLst/>
              </a:rPr>
              <a:t>Streamlit</a:t>
            </a:r>
            <a:r>
              <a:rPr lang="en-US" b="0" i="0" dirty="0">
                <a:effectLst/>
              </a:rPr>
              <a:t> is an open source app framework in Python language. It </a:t>
            </a:r>
            <a:r>
              <a:rPr lang="en-US" i="0" dirty="0">
                <a:effectLst/>
              </a:rPr>
              <a:t>helps us create web apps for data science and machine learning in a short time.</a:t>
            </a:r>
          </a:p>
          <a:p>
            <a:pPr marL="742950" lvl="1" indent="-285750">
              <a:buFont typeface="Arial" panose="020B0604020202020204" pitchFamily="34" charset="0"/>
              <a:buChar char="•"/>
            </a:pPr>
            <a:r>
              <a:rPr lang="en-US" b="1" i="0" dirty="0">
                <a:effectLst/>
              </a:rPr>
              <a:t>Pandas</a:t>
            </a:r>
            <a:r>
              <a:rPr lang="en-US" b="0" i="0" dirty="0">
                <a:effectLst/>
              </a:rPr>
              <a:t> is an open source Python package that is most widely used for </a:t>
            </a:r>
            <a:r>
              <a:rPr lang="en-US" i="0" dirty="0">
                <a:effectLst/>
              </a:rPr>
              <a:t>data science/data analysis and machine learning tasks</a:t>
            </a:r>
            <a:r>
              <a:rPr lang="en-US" b="0" i="0" dirty="0">
                <a:effectLst/>
              </a:rPr>
              <a:t>.</a:t>
            </a:r>
          </a:p>
          <a:p>
            <a:pPr marL="742950" lvl="1" indent="-285750">
              <a:buFont typeface="Arial" panose="020B0604020202020204" pitchFamily="34" charset="0"/>
              <a:buChar char="•"/>
            </a:pPr>
            <a:r>
              <a:rPr lang="en-US" b="1" i="0" dirty="0">
                <a:effectLst/>
              </a:rPr>
              <a:t>NumPy</a:t>
            </a:r>
            <a:r>
              <a:rPr lang="en-US" i="0" dirty="0">
                <a:effectLst/>
              </a:rPr>
              <a:t> is a Python library used for working with arrays. It also has functions for working in domain of linear algebra, Fourier transform, and matrices.</a:t>
            </a:r>
          </a:p>
          <a:p>
            <a:pPr marL="742950" lvl="1" indent="-285750">
              <a:buFont typeface="Arial" panose="020B0604020202020204" pitchFamily="34" charset="0"/>
              <a:buChar char="•"/>
            </a:pPr>
            <a:r>
              <a:rPr lang="en-US" b="1" i="0" dirty="0">
                <a:effectLst/>
              </a:rPr>
              <a:t>Matplotlib</a:t>
            </a:r>
            <a:r>
              <a:rPr lang="en-US" b="0" i="0" dirty="0">
                <a:effectLst/>
              </a:rPr>
              <a:t> is a comprehensive library for </a:t>
            </a:r>
            <a:r>
              <a:rPr lang="en-US" i="0" dirty="0">
                <a:effectLst/>
              </a:rPr>
              <a:t>creating static, animated, and interactive visualizations in Python.</a:t>
            </a:r>
          </a:p>
          <a:p>
            <a:pPr marL="742950" lvl="1" indent="-285750">
              <a:buFont typeface="Arial" panose="020B0604020202020204" pitchFamily="34" charset="0"/>
              <a:buChar char="•"/>
            </a:pPr>
            <a:r>
              <a:rPr lang="en-US" b="1" i="0" dirty="0" err="1">
                <a:effectLst/>
              </a:rPr>
              <a:t>Pyplot</a:t>
            </a:r>
            <a:r>
              <a:rPr lang="en-US" b="0" i="0" dirty="0">
                <a:effectLst/>
              </a:rPr>
              <a:t> is </a:t>
            </a:r>
            <a:r>
              <a:rPr lang="en-US" i="0" dirty="0">
                <a:effectLst/>
              </a:rPr>
              <a:t>an API (Application Programming Interface) for Python's matplotlib </a:t>
            </a:r>
            <a:r>
              <a:rPr lang="en-US" b="0" i="0" dirty="0">
                <a:effectLst/>
              </a:rPr>
              <a:t>that effectively makes matplotlib a viable open source alternative to MATLAB</a:t>
            </a:r>
            <a:endParaRPr lang="en-US" i="0" dirty="0">
              <a:effectLst/>
            </a:endParaRPr>
          </a:p>
          <a:p>
            <a:pPr marL="742950" lvl="1" indent="-285750">
              <a:buFont typeface="Arial" panose="020B0604020202020204" pitchFamily="34" charset="0"/>
              <a:buChar char="•"/>
            </a:pPr>
            <a:r>
              <a:rPr lang="en-US" b="1" i="0" dirty="0" err="1">
                <a:effectLst/>
              </a:rPr>
              <a:t>Sklearn</a:t>
            </a:r>
            <a:r>
              <a:rPr lang="en-US" b="0" i="0" dirty="0">
                <a:effectLst/>
              </a:rPr>
              <a:t> contains a lot of efficient tools for </a:t>
            </a:r>
            <a:r>
              <a:rPr lang="en-US" i="0" dirty="0">
                <a:effectLst/>
              </a:rPr>
              <a:t>machine learning and statistical modeling including classification, regression, clustering and dimensionality reduction</a:t>
            </a:r>
            <a:r>
              <a:rPr lang="en-US" i="0" dirty="0">
                <a:solidFill>
                  <a:srgbClr val="BDC1C6"/>
                </a:solidFill>
                <a:effectLst/>
              </a:rPr>
              <a:t>.</a:t>
            </a:r>
            <a:endParaRPr lang="en-IN" dirty="0"/>
          </a:p>
        </p:txBody>
      </p:sp>
      <p:sp>
        <p:nvSpPr>
          <p:cNvPr id="10" name="TextBox 9">
            <a:extLst>
              <a:ext uri="{FF2B5EF4-FFF2-40B4-BE49-F238E27FC236}">
                <a16:creationId xmlns:a16="http://schemas.microsoft.com/office/drawing/2014/main" id="{2E98550B-A280-F35B-9B47-B52786456601}"/>
              </a:ext>
            </a:extLst>
          </p:cNvPr>
          <p:cNvSpPr txBox="1"/>
          <p:nvPr/>
        </p:nvSpPr>
        <p:spPr>
          <a:xfrm>
            <a:off x="3276600" y="577615"/>
            <a:ext cx="4572000" cy="523220"/>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800" b="1" u="sng" dirty="0">
                <a:latin typeface="+mj-lt"/>
              </a:rPr>
              <a:t>Python Libraries</a:t>
            </a:r>
          </a:p>
        </p:txBody>
      </p:sp>
    </p:spTree>
    <p:extLst>
      <p:ext uri="{BB962C8B-B14F-4D97-AF65-F5344CB8AC3E}">
        <p14:creationId xmlns:p14="http://schemas.microsoft.com/office/powerpoint/2010/main" val="4094591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oogle Shape;72;p14">
            <a:extLst>
              <a:ext uri="{FF2B5EF4-FFF2-40B4-BE49-F238E27FC236}">
                <a16:creationId xmlns:a16="http://schemas.microsoft.com/office/drawing/2014/main" id="{C86486BA-2D30-1346-E84A-E5DCD4BBEE0D}"/>
              </a:ext>
            </a:extLst>
          </p:cNvPr>
          <p:cNvPicPr preferRelativeResize="0"/>
          <p:nvPr/>
        </p:nvPicPr>
        <p:blipFill>
          <a:blip r:embed="rId3">
            <a:alphaModFix/>
          </a:blip>
          <a:stretch>
            <a:fillRect/>
          </a:stretch>
        </p:blipFill>
        <p:spPr>
          <a:xfrm>
            <a:off x="147275" y="275456"/>
            <a:ext cx="2881675" cy="973650"/>
          </a:xfrm>
          <a:prstGeom prst="rect">
            <a:avLst/>
          </a:prstGeom>
          <a:noFill/>
          <a:ln>
            <a:noFill/>
          </a:ln>
        </p:spPr>
      </p:pic>
      <p:pic>
        <p:nvPicPr>
          <p:cNvPr id="9" name="Picture 8">
            <a:extLst>
              <a:ext uri="{FF2B5EF4-FFF2-40B4-BE49-F238E27FC236}">
                <a16:creationId xmlns:a16="http://schemas.microsoft.com/office/drawing/2014/main" id="{EE37376F-F624-4D14-939D-FDE95E1BA5F8}"/>
              </a:ext>
            </a:extLst>
          </p:cNvPr>
          <p:cNvPicPr>
            <a:picLocks noChangeAspect="1"/>
          </p:cNvPicPr>
          <p:nvPr/>
        </p:nvPicPr>
        <p:blipFill>
          <a:blip r:embed="rId4"/>
          <a:stretch>
            <a:fillRect/>
          </a:stretch>
        </p:blipFill>
        <p:spPr>
          <a:xfrm>
            <a:off x="283955" y="1447800"/>
            <a:ext cx="4119925" cy="5166120"/>
          </a:xfrm>
          <a:prstGeom prst="rect">
            <a:avLst/>
          </a:prstGeom>
        </p:spPr>
      </p:pic>
      <p:pic>
        <p:nvPicPr>
          <p:cNvPr id="11" name="Picture 10">
            <a:extLst>
              <a:ext uri="{FF2B5EF4-FFF2-40B4-BE49-F238E27FC236}">
                <a16:creationId xmlns:a16="http://schemas.microsoft.com/office/drawing/2014/main" id="{1AAD65AB-4797-D503-69F7-0DA64F3D20B5}"/>
              </a:ext>
            </a:extLst>
          </p:cNvPr>
          <p:cNvPicPr>
            <a:picLocks noChangeAspect="1"/>
          </p:cNvPicPr>
          <p:nvPr/>
        </p:nvPicPr>
        <p:blipFill>
          <a:blip r:embed="rId5"/>
          <a:stretch>
            <a:fillRect/>
          </a:stretch>
        </p:blipFill>
        <p:spPr>
          <a:xfrm>
            <a:off x="4572000" y="1447800"/>
            <a:ext cx="4288045" cy="5166120"/>
          </a:xfrm>
          <a:prstGeom prst="rect">
            <a:avLst/>
          </a:prstGeom>
        </p:spPr>
      </p:pic>
      <p:sp>
        <p:nvSpPr>
          <p:cNvPr id="12" name="TextBox 11">
            <a:extLst>
              <a:ext uri="{FF2B5EF4-FFF2-40B4-BE49-F238E27FC236}">
                <a16:creationId xmlns:a16="http://schemas.microsoft.com/office/drawing/2014/main" id="{4E5FFEA4-4FC3-0A00-8568-6ACEA2BFC374}"/>
              </a:ext>
            </a:extLst>
          </p:cNvPr>
          <p:cNvSpPr txBox="1"/>
          <p:nvPr/>
        </p:nvSpPr>
        <p:spPr>
          <a:xfrm>
            <a:off x="4191000" y="489792"/>
            <a:ext cx="4038600" cy="523220"/>
          </a:xfrm>
          <a:prstGeom prst="rect">
            <a:avLst/>
          </a:prstGeom>
          <a:noFill/>
        </p:spPr>
        <p:txBody>
          <a:bodyPr wrap="square" rtlCol="0">
            <a:spAutoFit/>
          </a:bodyPr>
          <a:lstStyle/>
          <a:p>
            <a:pPr algn="ctr"/>
            <a:r>
              <a:rPr lang="en-IN" sz="2800" b="1" u="sng" dirty="0">
                <a:latin typeface="+mj-lt"/>
              </a:rPr>
              <a:t>Source code Images</a:t>
            </a:r>
          </a:p>
        </p:txBody>
      </p:sp>
      <p:sp>
        <p:nvSpPr>
          <p:cNvPr id="13" name="TextBox 12">
            <a:extLst>
              <a:ext uri="{FF2B5EF4-FFF2-40B4-BE49-F238E27FC236}">
                <a16:creationId xmlns:a16="http://schemas.microsoft.com/office/drawing/2014/main" id="{661EDE80-4585-28D4-09F1-440057DF5DAF}"/>
              </a:ext>
            </a:extLst>
          </p:cNvPr>
          <p:cNvSpPr txBox="1"/>
          <p:nvPr/>
        </p:nvSpPr>
        <p:spPr>
          <a:xfrm>
            <a:off x="5722859" y="1013012"/>
            <a:ext cx="993163" cy="369332"/>
          </a:xfrm>
          <a:prstGeom prst="rect">
            <a:avLst/>
          </a:prstGeom>
          <a:noFill/>
        </p:spPr>
        <p:txBody>
          <a:bodyPr wrap="square" rtlCol="0">
            <a:spAutoFit/>
          </a:bodyPr>
          <a:lstStyle/>
          <a:p>
            <a:pPr algn="ctr"/>
            <a:r>
              <a:rPr lang="en-IN" dirty="0">
                <a:hlinkClick r:id="rId6"/>
              </a:rPr>
              <a:t>GitHub</a:t>
            </a:r>
            <a:r>
              <a:rPr lang="en-IN" dirty="0"/>
              <a:t> </a:t>
            </a:r>
          </a:p>
        </p:txBody>
      </p:sp>
    </p:spTree>
    <p:extLst>
      <p:ext uri="{BB962C8B-B14F-4D97-AF65-F5344CB8AC3E}">
        <p14:creationId xmlns:p14="http://schemas.microsoft.com/office/powerpoint/2010/main" val="2547118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29EDB95-C732-EAA7-D616-70B7821F03C9}"/>
              </a:ext>
            </a:extLst>
          </p:cNvPr>
          <p:cNvSpPr txBox="1"/>
          <p:nvPr/>
        </p:nvSpPr>
        <p:spPr>
          <a:xfrm>
            <a:off x="4038600" y="533400"/>
            <a:ext cx="4572000" cy="369332"/>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u="sng" dirty="0">
                <a:latin typeface="+mj-lt"/>
              </a:rPr>
              <a:t>Output-demo of The Project</a:t>
            </a:r>
          </a:p>
        </p:txBody>
      </p:sp>
      <p:pic>
        <p:nvPicPr>
          <p:cNvPr id="7" name="Google Shape;72;p14">
            <a:extLst>
              <a:ext uri="{FF2B5EF4-FFF2-40B4-BE49-F238E27FC236}">
                <a16:creationId xmlns:a16="http://schemas.microsoft.com/office/drawing/2014/main" id="{AF8D4913-E801-EDA8-4FCD-F8DA73616CA1}"/>
              </a:ext>
            </a:extLst>
          </p:cNvPr>
          <p:cNvPicPr preferRelativeResize="0"/>
          <p:nvPr/>
        </p:nvPicPr>
        <p:blipFill>
          <a:blip r:embed="rId3">
            <a:alphaModFix/>
          </a:blip>
          <a:stretch>
            <a:fillRect/>
          </a:stretch>
        </p:blipFill>
        <p:spPr>
          <a:xfrm>
            <a:off x="147275" y="275456"/>
            <a:ext cx="2881675" cy="973650"/>
          </a:xfrm>
          <a:prstGeom prst="rect">
            <a:avLst/>
          </a:prstGeom>
          <a:noFill/>
          <a:ln>
            <a:noFill/>
          </a:ln>
        </p:spPr>
      </p:pic>
      <p:pic>
        <p:nvPicPr>
          <p:cNvPr id="9" name="Picture 8">
            <a:extLst>
              <a:ext uri="{FF2B5EF4-FFF2-40B4-BE49-F238E27FC236}">
                <a16:creationId xmlns:a16="http://schemas.microsoft.com/office/drawing/2014/main" id="{CF69D61E-4DD9-2E93-1B23-E2994A9DBC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189" y="1445893"/>
            <a:ext cx="4987916" cy="2941894"/>
          </a:xfrm>
          <a:prstGeom prst="rect">
            <a:avLst/>
          </a:prstGeom>
        </p:spPr>
      </p:pic>
      <p:pic>
        <p:nvPicPr>
          <p:cNvPr id="16" name="Picture 15">
            <a:extLst>
              <a:ext uri="{FF2B5EF4-FFF2-40B4-BE49-F238E27FC236}">
                <a16:creationId xmlns:a16="http://schemas.microsoft.com/office/drawing/2014/main" id="{8B4B2E32-5F60-A926-DCE6-FDF66C6F0758}"/>
              </a:ext>
            </a:extLst>
          </p:cNvPr>
          <p:cNvPicPr>
            <a:picLocks noChangeAspect="1"/>
          </p:cNvPicPr>
          <p:nvPr/>
        </p:nvPicPr>
        <p:blipFill>
          <a:blip r:embed="rId5"/>
          <a:stretch>
            <a:fillRect/>
          </a:stretch>
        </p:blipFill>
        <p:spPr>
          <a:xfrm>
            <a:off x="4981697" y="1066800"/>
            <a:ext cx="3933703" cy="5533962"/>
          </a:xfrm>
          <a:prstGeom prst="rect">
            <a:avLst/>
          </a:prstGeom>
        </p:spPr>
      </p:pic>
      <p:sp>
        <p:nvSpPr>
          <p:cNvPr id="17" name="TextBox 16">
            <a:extLst>
              <a:ext uri="{FF2B5EF4-FFF2-40B4-BE49-F238E27FC236}">
                <a16:creationId xmlns:a16="http://schemas.microsoft.com/office/drawing/2014/main" id="{F949FD85-3587-5E8A-D65C-2DC93036991B}"/>
              </a:ext>
            </a:extLst>
          </p:cNvPr>
          <p:cNvSpPr txBox="1"/>
          <p:nvPr/>
        </p:nvSpPr>
        <p:spPr>
          <a:xfrm>
            <a:off x="228600" y="4734161"/>
            <a:ext cx="4987916" cy="1323439"/>
          </a:xfrm>
          <a:prstGeom prst="rect">
            <a:avLst/>
          </a:prstGeom>
          <a:noFill/>
        </p:spPr>
        <p:txBody>
          <a:bodyPr wrap="square" rtlCol="0">
            <a:spAutoFit/>
          </a:bodyPr>
          <a:lstStyle/>
          <a:p>
            <a:pPr algn="ctr"/>
            <a:r>
              <a:rPr lang="en-IN" sz="2000" dirty="0"/>
              <a:t>By using ML algo we analysed the data and integrated it to UI design as shown above. In right, image shows the prediction of premium for the bike data entered.</a:t>
            </a:r>
          </a:p>
        </p:txBody>
      </p:sp>
      <p:sp>
        <p:nvSpPr>
          <p:cNvPr id="18" name="TextBox 17">
            <a:extLst>
              <a:ext uri="{FF2B5EF4-FFF2-40B4-BE49-F238E27FC236}">
                <a16:creationId xmlns:a16="http://schemas.microsoft.com/office/drawing/2014/main" id="{06EE8711-AC30-371A-78F1-5D8B470B2128}"/>
              </a:ext>
            </a:extLst>
          </p:cNvPr>
          <p:cNvSpPr txBox="1"/>
          <p:nvPr/>
        </p:nvSpPr>
        <p:spPr>
          <a:xfrm>
            <a:off x="381000" y="6395498"/>
            <a:ext cx="6934200" cy="369332"/>
          </a:xfrm>
          <a:prstGeom prst="rect">
            <a:avLst/>
          </a:prstGeom>
          <a:noFill/>
        </p:spPr>
        <p:txBody>
          <a:bodyPr wrap="square" rtlCol="0">
            <a:spAutoFit/>
          </a:bodyPr>
          <a:lstStyle/>
          <a:p>
            <a:pPr algn="ctr"/>
            <a:r>
              <a:rPr lang="en-IN" b="1" dirty="0">
                <a:latin typeface="+mj-lt"/>
              </a:rPr>
              <a:t>Link - </a:t>
            </a:r>
            <a:r>
              <a:rPr lang="en-IN" sz="1800" dirty="0">
                <a:solidFill>
                  <a:schemeClr val="tx1"/>
                </a:solidFill>
                <a:hlinkClick r:id="rId6"/>
              </a:rPr>
              <a:t>Vehicle Health Analysis and Insurance Predictor</a:t>
            </a:r>
            <a:endParaRPr lang="en-IN" dirty="0"/>
          </a:p>
        </p:txBody>
      </p:sp>
    </p:spTree>
    <p:extLst>
      <p:ext uri="{BB962C8B-B14F-4D97-AF65-F5344CB8AC3E}">
        <p14:creationId xmlns:p14="http://schemas.microsoft.com/office/powerpoint/2010/main" val="3831690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004B13-2239-DD60-CCD8-6DE58DDEAE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1295" y="1084729"/>
            <a:ext cx="5092457" cy="2583051"/>
          </a:xfrm>
          <a:prstGeom prst="rect">
            <a:avLst/>
          </a:prstGeom>
        </p:spPr>
      </p:pic>
      <p:sp>
        <p:nvSpPr>
          <p:cNvPr id="8" name="TextBox 7">
            <a:extLst>
              <a:ext uri="{FF2B5EF4-FFF2-40B4-BE49-F238E27FC236}">
                <a16:creationId xmlns:a16="http://schemas.microsoft.com/office/drawing/2014/main" id="{0F157102-D69B-B5BE-AF18-A6336C1ADDEC}"/>
              </a:ext>
            </a:extLst>
          </p:cNvPr>
          <p:cNvSpPr txBox="1"/>
          <p:nvPr/>
        </p:nvSpPr>
        <p:spPr>
          <a:xfrm>
            <a:off x="762000" y="304800"/>
            <a:ext cx="3810000" cy="523220"/>
          </a:xfrm>
          <a:prstGeom prst="rect">
            <a:avLst/>
          </a:prstGeom>
          <a:noFill/>
        </p:spPr>
        <p:txBody>
          <a:bodyPr wrap="square" rtlCol="0">
            <a:spAutoFit/>
          </a:bodyPr>
          <a:lstStyle/>
          <a:p>
            <a:pPr algn="ctr"/>
            <a:r>
              <a:rPr lang="en-IN" sz="2800" b="1" u="sng" dirty="0">
                <a:latin typeface="+mj-lt"/>
              </a:rPr>
              <a:t>Some Additional Images</a:t>
            </a:r>
          </a:p>
        </p:txBody>
      </p:sp>
      <p:pic>
        <p:nvPicPr>
          <p:cNvPr id="10" name="Picture 9">
            <a:extLst>
              <a:ext uri="{FF2B5EF4-FFF2-40B4-BE49-F238E27FC236}">
                <a16:creationId xmlns:a16="http://schemas.microsoft.com/office/drawing/2014/main" id="{E9D3A352-0831-CB66-0FE1-24ED18D0F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381000"/>
            <a:ext cx="3639670" cy="6259955"/>
          </a:xfrm>
          <a:prstGeom prst="rect">
            <a:avLst/>
          </a:prstGeom>
        </p:spPr>
      </p:pic>
      <p:pic>
        <p:nvPicPr>
          <p:cNvPr id="12" name="Picture 11">
            <a:extLst>
              <a:ext uri="{FF2B5EF4-FFF2-40B4-BE49-F238E27FC236}">
                <a16:creationId xmlns:a16="http://schemas.microsoft.com/office/drawing/2014/main" id="{B33D1650-C791-4BF5-086B-C4806AFB01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3652" y="3896380"/>
            <a:ext cx="5057991" cy="2656820"/>
          </a:xfrm>
          <a:prstGeom prst="rect">
            <a:avLst/>
          </a:prstGeom>
        </p:spPr>
      </p:pic>
    </p:spTree>
    <p:extLst>
      <p:ext uri="{BB962C8B-B14F-4D97-AF65-F5344CB8AC3E}">
        <p14:creationId xmlns:p14="http://schemas.microsoft.com/office/powerpoint/2010/main" val="3581241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6" name="Google Shape;72;p14">
            <a:extLst>
              <a:ext uri="{FF2B5EF4-FFF2-40B4-BE49-F238E27FC236}">
                <a16:creationId xmlns:a16="http://schemas.microsoft.com/office/drawing/2014/main" id="{6B5DAC47-EE4B-C59F-2B7B-E79EF927E352}"/>
              </a:ext>
            </a:extLst>
          </p:cNvPr>
          <p:cNvPicPr preferRelativeResize="0"/>
          <p:nvPr/>
        </p:nvPicPr>
        <p:blipFill>
          <a:blip r:embed="rId2">
            <a:alphaModFix/>
          </a:blip>
          <a:stretch>
            <a:fillRect/>
          </a:stretch>
        </p:blipFill>
        <p:spPr>
          <a:xfrm>
            <a:off x="147275" y="275456"/>
            <a:ext cx="2881675" cy="973650"/>
          </a:xfrm>
          <a:prstGeom prst="rect">
            <a:avLst/>
          </a:prstGeom>
          <a:noFill/>
          <a:ln>
            <a:noFill/>
          </a:ln>
        </p:spPr>
      </p:pic>
      <p:sp>
        <p:nvSpPr>
          <p:cNvPr id="8" name="TextBox 7">
            <a:extLst>
              <a:ext uri="{FF2B5EF4-FFF2-40B4-BE49-F238E27FC236}">
                <a16:creationId xmlns:a16="http://schemas.microsoft.com/office/drawing/2014/main" id="{C9DA5B86-A2CA-5679-52D1-C6D7E8459002}"/>
              </a:ext>
            </a:extLst>
          </p:cNvPr>
          <p:cNvSpPr txBox="1"/>
          <p:nvPr/>
        </p:nvSpPr>
        <p:spPr>
          <a:xfrm>
            <a:off x="3505200" y="500671"/>
            <a:ext cx="4572000" cy="523220"/>
          </a:xfrm>
          <a:prstGeom prst="rect">
            <a:avLst/>
          </a:prstGeom>
          <a:noFill/>
        </p:spPr>
        <p:txBody>
          <a:bodyPr wrap="square">
            <a:spAutoFit/>
          </a:bodyPr>
          <a:lstStyle/>
          <a:p>
            <a:pPr algn="ctr"/>
            <a:r>
              <a:rPr lang="en-IN" sz="2800" b="1" u="sng" dirty="0">
                <a:latin typeface="+mj-lt"/>
              </a:rPr>
              <a:t>REFERENCES</a:t>
            </a:r>
          </a:p>
        </p:txBody>
      </p:sp>
      <p:sp>
        <p:nvSpPr>
          <p:cNvPr id="9" name="TextBox 8">
            <a:extLst>
              <a:ext uri="{FF2B5EF4-FFF2-40B4-BE49-F238E27FC236}">
                <a16:creationId xmlns:a16="http://schemas.microsoft.com/office/drawing/2014/main" id="{73FE04E8-0E47-D6C5-22A5-01BA73C229A3}"/>
              </a:ext>
            </a:extLst>
          </p:cNvPr>
          <p:cNvSpPr txBox="1"/>
          <p:nvPr/>
        </p:nvSpPr>
        <p:spPr>
          <a:xfrm>
            <a:off x="361950" y="1300497"/>
            <a:ext cx="8305800" cy="5632311"/>
          </a:xfrm>
          <a:prstGeom prst="rect">
            <a:avLst/>
          </a:prstGeom>
          <a:noFill/>
        </p:spPr>
        <p:txBody>
          <a:bodyPr wrap="square" rtlCol="0">
            <a:spAutoFit/>
          </a:bodyPr>
          <a:lstStyle/>
          <a:p>
            <a:pPr marL="285750" indent="-285750">
              <a:buFont typeface="Arial" panose="020B0604020202020204" pitchFamily="34" charset="0"/>
              <a:buChar char="•"/>
            </a:pPr>
            <a:r>
              <a:rPr lang="en-US" dirty="0"/>
              <a:t>A study on car insurance purchase prediction using machine learning Shwetha Shree K*1, Mohan Murali P*2</a:t>
            </a:r>
            <a:r>
              <a:rPr lang="en-IN" dirty="0"/>
              <a:t> (2022)</a:t>
            </a:r>
          </a:p>
          <a:p>
            <a:endParaRPr lang="en-IN" dirty="0"/>
          </a:p>
          <a:p>
            <a:pPr marL="285750" indent="-285750">
              <a:buFont typeface="Arial" panose="020B0604020202020204" pitchFamily="34" charset="0"/>
              <a:buChar char="•"/>
            </a:pPr>
            <a:r>
              <a:rPr lang="en-IN" dirty="0"/>
              <a:t>Machine Learning Approaches for Auto insurance Big Data, Mohamed Hanafy, </a:t>
            </a:r>
            <a:r>
              <a:rPr lang="en-IN" dirty="0" err="1"/>
              <a:t>Ruixing</a:t>
            </a:r>
            <a:r>
              <a:rPr lang="en-IN" dirty="0"/>
              <a:t> Ming (2021)</a:t>
            </a:r>
          </a:p>
          <a:p>
            <a:endParaRPr lang="en-IN" dirty="0"/>
          </a:p>
          <a:p>
            <a:pPr marL="285750" indent="-285750">
              <a:buFont typeface="Arial" panose="020B0604020202020204" pitchFamily="34" charset="0"/>
              <a:buChar char="•"/>
            </a:pPr>
            <a:r>
              <a:rPr lang="en-IN" altLang="en-US" sz="1800" dirty="0"/>
              <a:t>Vehicle Health Monitoring and Analysis May 2016, </a:t>
            </a:r>
            <a:r>
              <a:rPr lang="en-IN" altLang="en-US" sz="1800" dirty="0" err="1"/>
              <a:t>Parmesh</a:t>
            </a:r>
            <a:r>
              <a:rPr lang="en-IN" altLang="en-US" sz="1800" dirty="0"/>
              <a:t> K. R</a:t>
            </a:r>
          </a:p>
          <a:p>
            <a:endParaRPr lang="en-IN" altLang="en-US" sz="1800" dirty="0"/>
          </a:p>
          <a:p>
            <a:pPr marL="285750" indent="-285750">
              <a:buFont typeface="Arial" panose="020B0604020202020204" pitchFamily="34" charset="0"/>
              <a:buChar char="•"/>
            </a:pPr>
            <a:r>
              <a:rPr lang="en-US" altLang="en-US" sz="1800" dirty="0"/>
              <a:t>A Vehicle Health Monitoring System Evaluated Experimentally on a Passenger Vehicle October 2006, </a:t>
            </a:r>
            <a:r>
              <a:rPr lang="en-US" altLang="en-US" sz="1800" dirty="0" err="1"/>
              <a:t>Hok</a:t>
            </a:r>
            <a:r>
              <a:rPr lang="en-US" altLang="en-US" sz="1800" dirty="0"/>
              <a:t> K. Ng, Robert H. Chen, Jason Speyer</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b="0" i="0" dirty="0">
                <a:solidFill>
                  <a:srgbClr val="111111"/>
                </a:solidFill>
                <a:effectLst/>
              </a:rPr>
              <a:t>Motor Insurance Claim Status Prediction using Machine Learning Techniques, </a:t>
            </a:r>
            <a:r>
              <a:rPr lang="en-US" b="0" i="0" dirty="0" err="1">
                <a:solidFill>
                  <a:srgbClr val="111111"/>
                </a:solidFill>
                <a:effectLst/>
              </a:rPr>
              <a:t>Endelew</a:t>
            </a:r>
            <a:r>
              <a:rPr lang="en-US" b="0" i="0" dirty="0">
                <a:solidFill>
                  <a:srgbClr val="111111"/>
                </a:solidFill>
                <a:effectLst/>
              </a:rPr>
              <a:t> </a:t>
            </a:r>
            <a:r>
              <a:rPr lang="en-US" b="0" i="0" dirty="0" err="1">
                <a:solidFill>
                  <a:srgbClr val="111111"/>
                </a:solidFill>
                <a:effectLst/>
              </a:rPr>
              <a:t>Alamir</a:t>
            </a:r>
            <a:r>
              <a:rPr lang="en-US" b="0" i="0" dirty="0">
                <a:solidFill>
                  <a:srgbClr val="111111"/>
                </a:solidFill>
                <a:effectLst/>
              </a:rPr>
              <a:t>, </a:t>
            </a:r>
            <a:r>
              <a:rPr lang="en-US" b="0" i="0" dirty="0" err="1">
                <a:solidFill>
                  <a:srgbClr val="111111"/>
                </a:solidFill>
                <a:effectLst/>
              </a:rPr>
              <a:t>Teklu</a:t>
            </a:r>
            <a:r>
              <a:rPr lang="en-US" b="0" i="0" dirty="0">
                <a:solidFill>
                  <a:srgbClr val="111111"/>
                </a:solidFill>
                <a:effectLst/>
              </a:rPr>
              <a:t> </a:t>
            </a:r>
            <a:r>
              <a:rPr lang="en-US" b="0" i="0" dirty="0" err="1">
                <a:solidFill>
                  <a:srgbClr val="111111"/>
                </a:solidFill>
                <a:effectLst/>
              </a:rPr>
              <a:t>Urgessa</a:t>
            </a:r>
            <a:r>
              <a:rPr lang="en-US" b="0" i="0" dirty="0">
                <a:solidFill>
                  <a:srgbClr val="111111"/>
                </a:solidFill>
                <a:effectLst/>
              </a:rPr>
              <a:t>, </a:t>
            </a:r>
            <a:r>
              <a:rPr lang="en-US" b="0" i="0" dirty="0" err="1">
                <a:solidFill>
                  <a:srgbClr val="111111"/>
                </a:solidFill>
                <a:effectLst/>
              </a:rPr>
              <a:t>Ashebir</a:t>
            </a:r>
            <a:r>
              <a:rPr lang="en-US" b="0" i="0" dirty="0">
                <a:solidFill>
                  <a:srgbClr val="111111"/>
                </a:solidFill>
                <a:effectLst/>
              </a:rPr>
              <a:t> </a:t>
            </a:r>
            <a:r>
              <a:rPr lang="en-US" b="0" i="0" dirty="0" err="1">
                <a:solidFill>
                  <a:srgbClr val="111111"/>
                </a:solidFill>
                <a:effectLst/>
              </a:rPr>
              <a:t>Hunegnaw</a:t>
            </a:r>
            <a:r>
              <a:rPr lang="en-US" dirty="0">
                <a:solidFill>
                  <a:srgbClr val="111111"/>
                </a:solidFill>
              </a:rPr>
              <a:t>, </a:t>
            </a:r>
            <a:r>
              <a:rPr lang="en-US" dirty="0" err="1">
                <a:solidFill>
                  <a:srgbClr val="111111"/>
                </a:solidFill>
              </a:rPr>
              <a:t>Tiruveedula</a:t>
            </a:r>
            <a:r>
              <a:rPr lang="en-US" dirty="0">
                <a:solidFill>
                  <a:srgbClr val="111111"/>
                </a:solidFill>
              </a:rPr>
              <a:t> </a:t>
            </a:r>
            <a:r>
              <a:rPr lang="en-US" dirty="0" err="1">
                <a:solidFill>
                  <a:srgbClr val="111111"/>
                </a:solidFill>
              </a:rPr>
              <a:t>Gopikrishna</a:t>
            </a:r>
            <a:endParaRPr lang="en-US" dirty="0">
              <a:solidFill>
                <a:srgbClr val="111111"/>
              </a:solidFill>
            </a:endParaRPr>
          </a:p>
          <a:p>
            <a:pPr marL="285750" indent="-285750">
              <a:buFont typeface="Arial" panose="020B0604020202020204" pitchFamily="34" charset="0"/>
              <a:buChar char="•"/>
            </a:pPr>
            <a:endParaRPr lang="en-US" b="0" i="0" dirty="0">
              <a:solidFill>
                <a:srgbClr val="111111"/>
              </a:solidFill>
              <a:effectLst/>
            </a:endParaRPr>
          </a:p>
          <a:p>
            <a:pPr marL="285750" indent="-285750">
              <a:buFont typeface="Arial" panose="020B0604020202020204" pitchFamily="34" charset="0"/>
              <a:buChar char="•"/>
            </a:pPr>
            <a:r>
              <a:rPr lang="en-US" dirty="0"/>
              <a:t>Prediction of motor insurance claims occurrence as an imbalanced machine learning problem Sebastian Baran, </a:t>
            </a:r>
            <a:r>
              <a:rPr lang="en-IN" dirty="0" err="1"/>
              <a:t>Przemys</a:t>
            </a:r>
            <a:r>
              <a:rPr lang="en-IN" dirty="0"/>
              <a:t> law </a:t>
            </a:r>
            <a:r>
              <a:rPr lang="en-IN" dirty="0" err="1"/>
              <a:t>Rola</a:t>
            </a:r>
            <a:r>
              <a:rPr lang="en-IN" dirty="0"/>
              <a:t> (2022)</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i="0" dirty="0">
                <a:effectLst/>
              </a:rPr>
              <a:t>A proposed model to predict auto insurance claims using machine learning </a:t>
            </a:r>
            <a:r>
              <a:rPr lang="en-IN" dirty="0"/>
              <a:t>techniques, shady </a:t>
            </a:r>
            <a:r>
              <a:rPr lang="en-IN" dirty="0" err="1"/>
              <a:t>abdelhadi</a:t>
            </a:r>
            <a:r>
              <a:rPr lang="en-IN" dirty="0"/>
              <a:t>, </a:t>
            </a:r>
            <a:r>
              <a:rPr lang="en-IN" dirty="0" err="1"/>
              <a:t>khaled</a:t>
            </a:r>
            <a:r>
              <a:rPr lang="en-IN" dirty="0"/>
              <a:t> A. </a:t>
            </a:r>
            <a:r>
              <a:rPr lang="en-IN" dirty="0" err="1"/>
              <a:t>Elbahnasy</a:t>
            </a:r>
            <a:r>
              <a:rPr lang="en-IN" dirty="0"/>
              <a:t>, </a:t>
            </a:r>
            <a:r>
              <a:rPr lang="en-IN" dirty="0" err="1"/>
              <a:t>mohamed</a:t>
            </a:r>
            <a:r>
              <a:rPr lang="en-IN" dirty="0"/>
              <a:t> M. </a:t>
            </a:r>
            <a:r>
              <a:rPr lang="en-IN" dirty="0" err="1"/>
              <a:t>Abdelsalam</a:t>
            </a:r>
            <a:endParaRPr lang="en-IN" altLang="en-US" sz="1800" dirty="0"/>
          </a:p>
          <a:p>
            <a:pPr marL="285750" indent="-285750">
              <a:buFont typeface="Arial" panose="020B0604020202020204" pitchFamily="34" charset="0"/>
              <a:buChar char="•"/>
            </a:pPr>
            <a:endParaRPr lang="en-IN" dirty="0"/>
          </a:p>
        </p:txBody>
      </p:sp>
      <p:sp>
        <p:nvSpPr>
          <p:cNvPr id="3" name="AutoShape 3" descr="Teklu Urgessa">
            <a:hlinkClick r:id="rId3"/>
            <a:extLst>
              <a:ext uri="{FF2B5EF4-FFF2-40B4-BE49-F238E27FC236}">
                <a16:creationId xmlns:a16="http://schemas.microsoft.com/office/drawing/2014/main" id="{94489011-50DC-E082-248C-BB79A6D06B6D}"/>
              </a:ext>
            </a:extLst>
          </p:cNvPr>
          <p:cNvSpPr>
            <a:spLocks noChangeAspect="1" noChangeArrowheads="1"/>
          </p:cNvSpPr>
          <p:nvPr/>
        </p:nvSpPr>
        <p:spPr bwMode="auto">
          <a:xfrm>
            <a:off x="127000" y="-106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5" descr="Tiruveedula Gopikrishna">
            <a:hlinkClick r:id="rId4"/>
            <a:extLst>
              <a:ext uri="{FF2B5EF4-FFF2-40B4-BE49-F238E27FC236}">
                <a16:creationId xmlns:a16="http://schemas.microsoft.com/office/drawing/2014/main" id="{AFDE1EDF-C541-9E4B-CD96-F91F78EB5E14}"/>
              </a:ext>
            </a:extLst>
          </p:cNvPr>
          <p:cNvSpPr>
            <a:spLocks noChangeAspect="1" noChangeArrowheads="1"/>
          </p:cNvSpPr>
          <p:nvPr/>
        </p:nvSpPr>
        <p:spPr bwMode="auto">
          <a:xfrm>
            <a:off x="57150" y="5032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97287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810</TotalTime>
  <Words>1837</Words>
  <Application>Microsoft Office PowerPoint</Application>
  <PresentationFormat>On-screen Show (4:3)</PresentationFormat>
  <Paragraphs>145</Paragraphs>
  <Slides>17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-apple-system</vt:lpstr>
      <vt:lpstr>Arial</vt:lpstr>
      <vt:lpstr>Calibri</vt:lpstr>
      <vt:lpstr>Calibri Light</vt:lpstr>
      <vt:lpstr>Google Sans</vt:lpstr>
      <vt:lpstr>Roboto</vt:lpstr>
      <vt:lpstr>Tahoma</vt:lpstr>
      <vt:lpstr>urw-din</vt:lpstr>
      <vt:lpstr>Wingdings</vt:lpstr>
      <vt:lpstr>Office Theme</vt:lpstr>
      <vt:lpstr>Vehicle Health Analysis and Spare E-Commerce</vt:lpstr>
      <vt:lpstr>  Table of Contents</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Rajasekar</dc:creator>
  <cp:lastModifiedBy>Yuvraj Singh</cp:lastModifiedBy>
  <cp:revision>22</cp:revision>
  <dcterms:created xsi:type="dcterms:W3CDTF">2020-05-13T07:00:09Z</dcterms:created>
  <dcterms:modified xsi:type="dcterms:W3CDTF">2022-11-06T00:11:49Z</dcterms:modified>
</cp:coreProperties>
</file>